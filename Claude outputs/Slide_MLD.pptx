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niveau intermédiaire de Merise, le Modèle Logique de Données. C'est là qu'on transforme les entités du MCD en tables, et qu'on matérialise les relations par des clés étrangères. La clé primaire est soulignée ; les clés étrangères sont précédées d'un dièse. Par exemple, la relation « un patient a plusieurs rendez-vous » devient la clé étrangère user_id dans la table rendez_vous. Une fois cette logique posée, on ajoute les types SQL pour obtenir le MPD.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CONCEPTION DES DONNÉES — LE MLD</a:t>
            </a:r>
            <a:endParaRPr lang="en-US" sz="1300" dirty="0"/>
          </a:p>
        </p:txBody>
      </p:sp>
      <p:sp>
        <p:nvSpPr>
          <p:cNvPr id="4" name="Shape 1"/>
          <p:cNvSpPr/>
          <p:nvPr/>
        </p:nvSpPr>
        <p:spPr>
          <a:xfrm>
            <a:off x="1280160" y="1234440"/>
            <a:ext cx="9601200" cy="4480560"/>
          </a:xfrm>
          <a:prstGeom prst="roundRect">
            <a:avLst>
              <a:gd name="adj" fmla="val 1224"/>
            </a:avLst>
          </a:prstGeom>
          <a:solidFill>
            <a:srgbClr val="FFFFFF"/>
          </a:solidFill>
          <a:ln/>
          <a:effectLst>
            <a:outerShdw sx="100000" sy="100000" kx="0" ky="0" algn="bl" rotWithShape="0" blurRad="127000" dist="38100" dir="5400000">
              <a:srgbClr val="000000">
                <a:alpha val="35000"/>
              </a:srgbClr>
            </a:outerShdw>
          </a:effectLst>
        </p:spPr>
      </p:sp>
      <p:sp>
        <p:nvSpPr>
          <p:cNvPr id="5" name="Text 2"/>
          <p:cNvSpPr txBox="1"/>
          <p:nvPr/>
        </p:nvSpPr>
        <p:spPr>
          <a:xfrm>
            <a:off x="1691640" y="1463040"/>
            <a:ext cx="8778240" cy="365760"/>
          </a:xfrm>
          <a:prstGeom prst="rect">
            <a:avLst/>
          </a:prstGeom>
          <a:noFill/>
          <a:ln/>
        </p:spPr>
        <p:txBody>
          <a:bodyPr wrap="square"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Parcours Santé — Modèle Logique de Données (MLD)</a:t>
            </a:r>
            <a:endParaRPr lang="en-US" sz="1500" dirty="0"/>
          </a:p>
        </p:txBody>
      </p:sp>
      <p:sp>
        <p:nvSpPr>
          <p:cNvPr id="6" name="Text 3"/>
          <p:cNvSpPr txBox="1"/>
          <p:nvPr/>
        </p:nvSpPr>
        <p:spPr>
          <a:xfrm>
            <a:off x="1783080" y="1965960"/>
            <a:ext cx="8595360" cy="3566160"/>
          </a:xfrm>
          <a:prstGeom prst="rect">
            <a:avLst/>
          </a:prstGeom>
          <a:noFill/>
          <a:ln/>
        </p:spPr>
        <p:txBody>
          <a:bodyPr wrap="square" rtlCol="0" anchor="t"/>
          <a:lstStyle/>
          <a:p>
            <a:pPr indent="0" marL="0">
              <a:spcAft>
                <a:spcPts val="1000"/>
              </a:spcAft>
              <a:buNone/>
            </a:pPr>
            <a:r>
              <a:rPr lang="en-US" sz="1450" b="1" dirty="0">
                <a:solidFill>
                  <a:srgbClr val="1F6F54"/>
                </a:solidFill>
                <a:latin typeface="Calibri" pitchFamily="34" charset="0"/>
                <a:ea typeface="Calibri" pitchFamily="34" charset="-122"/>
                <a:cs typeface="Calibri" pitchFamily="34" charset="-120"/>
              </a:rPr>
              <a:t>user </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pPr indent="0" marL="0">
              <a:spcAft>
                <a:spcPts val="1000"/>
              </a:spcAft>
              <a:buNone/>
            </a:pPr>
            <a:r>
              <a:rPr lang="en-US" sz="1450" u="sng" dirty="0">
                <a:solidFill>
                  <a:srgbClr val="1A1A2E"/>
                </a:solidFill>
                <a:latin typeface="Calibri" pitchFamily="34" charset="0"/>
                <a:ea typeface="Calibri" pitchFamily="34" charset="-122"/>
                <a:cs typeface="Calibri" pitchFamily="34" charset="-120"/>
              </a:rPr>
              <a:t>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email</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roles</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password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nom</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prenom</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endParaRPr lang="en-US" sz="1450" dirty="0"/>
          </a:p>
          <a:p>
            <a:pPr indent="0" marL="0">
              <a:spcAft>
                <a:spcPts val="1000"/>
              </a:spcAft>
              <a:buNone/>
            </a:pPr>
            <a:r>
              <a:rPr lang="en-US" sz="1450" b="1" dirty="0">
                <a:solidFill>
                  <a:srgbClr val="1F6F54"/>
                </a:solidFill>
                <a:latin typeface="Calibri" pitchFamily="34" charset="0"/>
                <a:ea typeface="Calibri" pitchFamily="34" charset="-122"/>
                <a:cs typeface="Calibri" pitchFamily="34" charset="-120"/>
              </a:rPr>
              <a:t>category </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pPr indent="0" marL="0">
              <a:spcAft>
                <a:spcPts val="1000"/>
              </a:spcAft>
              <a:buNone/>
            </a:pPr>
            <a:r>
              <a:rPr lang="en-US" sz="1450" u="sng" dirty="0">
                <a:solidFill>
                  <a:srgbClr val="1A1A2E"/>
                </a:solidFill>
                <a:latin typeface="Calibri" pitchFamily="34" charset="0"/>
                <a:ea typeface="Calibri" pitchFamily="34" charset="-122"/>
                <a:cs typeface="Calibri" pitchFamily="34" charset="-120"/>
              </a:rPr>
              <a:t>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nom</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endParaRPr lang="en-US" sz="1450" dirty="0"/>
          </a:p>
          <a:p>
            <a:pPr indent="0" marL="0">
              <a:spcAft>
                <a:spcPts val="1000"/>
              </a:spcAft>
              <a:buNone/>
            </a:pPr>
            <a:r>
              <a:rPr lang="en-US" sz="1450" b="1" dirty="0">
                <a:solidFill>
                  <a:srgbClr val="1F6F54"/>
                </a:solidFill>
                <a:latin typeface="Calibri" pitchFamily="34" charset="0"/>
                <a:ea typeface="Calibri" pitchFamily="34" charset="-122"/>
                <a:cs typeface="Calibri" pitchFamily="34" charset="-120"/>
              </a:rPr>
              <a:t>rendez_vous </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pPr indent="0" marL="0">
              <a:spcAft>
                <a:spcPts val="1000"/>
              </a:spcAft>
              <a:buNone/>
            </a:pPr>
            <a:r>
              <a:rPr lang="en-US" sz="1450" u="sng" dirty="0">
                <a:solidFill>
                  <a:srgbClr val="1A1A2E"/>
                </a:solidFill>
                <a:latin typeface="Calibri" pitchFamily="34" charset="0"/>
                <a:ea typeface="Calibri" pitchFamily="34" charset="-122"/>
                <a:cs typeface="Calibri" pitchFamily="34" charset="-120"/>
              </a:rPr>
              <a:t>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titre</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date</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lieu</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medecin</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notes</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i="1" dirty="0">
                <a:solidFill>
                  <a:srgbClr val="7A6FB0"/>
                </a:solidFill>
                <a:latin typeface="Calibri" pitchFamily="34" charset="0"/>
                <a:ea typeface="Calibri" pitchFamily="34" charset="-122"/>
                <a:cs typeface="Calibri" pitchFamily="34" charset="-120"/>
              </a:rPr>
              <a:t>#user_id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i="1" dirty="0">
                <a:solidFill>
                  <a:srgbClr val="7A6FB0"/>
                </a:solidFill>
                <a:latin typeface="Calibri" pitchFamily="34" charset="0"/>
                <a:ea typeface="Calibri" pitchFamily="34" charset="-122"/>
                <a:cs typeface="Calibri" pitchFamily="34" charset="-120"/>
              </a:rPr>
              <a:t>#category_id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endParaRPr lang="en-US" sz="1450" dirty="0"/>
          </a:p>
          <a:p>
            <a:pPr indent="0" marL="0">
              <a:spcAft>
                <a:spcPts val="1000"/>
              </a:spcAft>
              <a:buNone/>
            </a:pPr>
            <a:r>
              <a:rPr lang="en-US" sz="1450" b="1" dirty="0">
                <a:solidFill>
                  <a:srgbClr val="1F6F54"/>
                </a:solidFill>
                <a:latin typeface="Calibri" pitchFamily="34" charset="0"/>
                <a:ea typeface="Calibri" pitchFamily="34" charset="-122"/>
                <a:cs typeface="Calibri" pitchFamily="34" charset="-120"/>
              </a:rPr>
              <a:t>medicament </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pPr indent="0" marL="0">
              <a:spcAft>
                <a:spcPts val="1000"/>
              </a:spcAft>
              <a:buNone/>
            </a:pPr>
            <a:r>
              <a:rPr lang="en-US" sz="1450" u="sng" dirty="0">
                <a:solidFill>
                  <a:srgbClr val="1A1A2E"/>
                </a:solidFill>
                <a:latin typeface="Calibri" pitchFamily="34" charset="0"/>
                <a:ea typeface="Calibri" pitchFamily="34" charset="-122"/>
                <a:cs typeface="Calibri" pitchFamily="34" charset="-120"/>
              </a:rPr>
              <a:t>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nom</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dosage</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date_debut</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date_fin</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i="1" dirty="0">
                <a:solidFill>
                  <a:srgbClr val="7A6FB0"/>
                </a:solidFill>
                <a:latin typeface="Calibri" pitchFamily="34" charset="0"/>
                <a:ea typeface="Calibri" pitchFamily="34" charset="-122"/>
                <a:cs typeface="Calibri" pitchFamily="34" charset="-120"/>
              </a:rPr>
              <a:t>#user_id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endParaRPr lang="en-US" sz="1450" dirty="0"/>
          </a:p>
          <a:p>
            <a:pPr indent="0" marL="0">
              <a:spcAft>
                <a:spcPts val="1000"/>
              </a:spcAft>
              <a:buNone/>
            </a:pPr>
            <a:r>
              <a:rPr lang="en-US" sz="1450" b="1" dirty="0">
                <a:solidFill>
                  <a:srgbClr val="1F6F54"/>
                </a:solidFill>
                <a:latin typeface="Calibri" pitchFamily="34" charset="0"/>
                <a:ea typeface="Calibri" pitchFamily="34" charset="-122"/>
                <a:cs typeface="Calibri" pitchFamily="34" charset="-120"/>
              </a:rPr>
              <a:t>prise_medicament </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pPr indent="0" marL="0">
              <a:spcAft>
                <a:spcPts val="1000"/>
              </a:spcAft>
              <a:buNone/>
            </a:pPr>
            <a:r>
              <a:rPr lang="en-US" sz="1450" u="sng" dirty="0">
                <a:solidFill>
                  <a:srgbClr val="1A1A2E"/>
                </a:solidFill>
                <a:latin typeface="Calibri" pitchFamily="34" charset="0"/>
                <a:ea typeface="Calibri" pitchFamily="34" charset="-122"/>
                <a:cs typeface="Calibri" pitchFamily="34" charset="-120"/>
              </a:rPr>
              <a:t>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heure_prevue</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nombres_comprimes</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effectuee</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i="1" dirty="0">
                <a:solidFill>
                  <a:srgbClr val="7A6FB0"/>
                </a:solidFill>
                <a:latin typeface="Calibri" pitchFamily="34" charset="0"/>
                <a:ea typeface="Calibri" pitchFamily="34" charset="-122"/>
                <a:cs typeface="Calibri" pitchFamily="34" charset="-120"/>
              </a:rPr>
              <a:t>#medicament_id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endParaRPr lang="en-US" sz="1450" dirty="0"/>
          </a:p>
          <a:p>
            <a:pPr indent="0" marL="0">
              <a:spcAft>
                <a:spcPts val="1000"/>
              </a:spcAft>
              <a:buNone/>
            </a:pPr>
            <a:r>
              <a:rPr lang="en-US" sz="1450" b="1" dirty="0">
                <a:solidFill>
                  <a:srgbClr val="1F6F54"/>
                </a:solidFill>
                <a:latin typeface="Calibri" pitchFamily="34" charset="0"/>
                <a:ea typeface="Calibri" pitchFamily="34" charset="-122"/>
                <a:cs typeface="Calibri" pitchFamily="34" charset="-120"/>
              </a:rPr>
              <a:t>symptome </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pPr indent="0" marL="0">
              <a:spcAft>
                <a:spcPts val="1000"/>
              </a:spcAft>
              <a:buNone/>
            </a:pPr>
            <a:r>
              <a:rPr lang="en-US" sz="1450" u="sng" dirty="0">
                <a:solidFill>
                  <a:srgbClr val="1A1A2E"/>
                </a:solidFill>
                <a:latin typeface="Calibri" pitchFamily="34" charset="0"/>
                <a:ea typeface="Calibri" pitchFamily="34" charset="-122"/>
                <a:cs typeface="Calibri" pitchFamily="34" charset="-120"/>
              </a:rPr>
              <a:t>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nom</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endParaRPr lang="en-US" sz="1450" dirty="0"/>
          </a:p>
          <a:p>
            <a:pPr indent="0" marL="0">
              <a:spcAft>
                <a:spcPts val="1000"/>
              </a:spcAft>
              <a:buNone/>
            </a:pPr>
            <a:r>
              <a:rPr lang="en-US" sz="1450" b="1" dirty="0">
                <a:solidFill>
                  <a:srgbClr val="1F6F54"/>
                </a:solidFill>
                <a:latin typeface="Calibri" pitchFamily="34" charset="0"/>
                <a:ea typeface="Calibri" pitchFamily="34" charset="-122"/>
                <a:cs typeface="Calibri" pitchFamily="34" charset="-120"/>
              </a:rPr>
              <a:t>journal </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pPr indent="0" marL="0">
              <a:spcAft>
                <a:spcPts val="1000"/>
              </a:spcAft>
              <a:buNone/>
            </a:pPr>
            <a:r>
              <a:rPr lang="en-US" sz="1450" u="sng" dirty="0">
                <a:solidFill>
                  <a:srgbClr val="1A1A2E"/>
                </a:solidFill>
                <a:latin typeface="Calibri" pitchFamily="34" charset="0"/>
                <a:ea typeface="Calibri" pitchFamily="34" charset="-122"/>
                <a:cs typeface="Calibri" pitchFamily="34" charset="-120"/>
              </a:rPr>
              <a:t>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date</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intensite</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dirty="0">
                <a:solidFill>
                  <a:srgbClr val="1A1A2E"/>
                </a:solidFill>
                <a:latin typeface="Calibri" pitchFamily="34" charset="0"/>
                <a:ea typeface="Calibri" pitchFamily="34" charset="-122"/>
                <a:cs typeface="Calibri" pitchFamily="34" charset="-120"/>
              </a:rPr>
              <a:t>note</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i="1" dirty="0">
                <a:solidFill>
                  <a:srgbClr val="7A6FB0"/>
                </a:solidFill>
                <a:latin typeface="Calibri" pitchFamily="34" charset="0"/>
                <a:ea typeface="Calibri" pitchFamily="34" charset="-122"/>
                <a:cs typeface="Calibri" pitchFamily="34" charset="-120"/>
              </a:rPr>
              <a:t>#user_id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 </a:t>
            </a:r>
            <a:pPr indent="0" marL="0">
              <a:spcAft>
                <a:spcPts val="1000"/>
              </a:spcAft>
              <a:buNone/>
            </a:pPr>
            <a:r>
              <a:rPr lang="en-US" sz="1450" i="1" dirty="0">
                <a:solidFill>
                  <a:srgbClr val="7A6FB0"/>
                </a:solidFill>
                <a:latin typeface="Calibri" pitchFamily="34" charset="0"/>
                <a:ea typeface="Calibri" pitchFamily="34" charset="-122"/>
                <a:cs typeface="Calibri" pitchFamily="34" charset="-120"/>
              </a:rPr>
              <a:t>#symptome_id</a:t>
            </a:r>
            <a:pPr indent="0" marL="0">
              <a:spcAft>
                <a:spcPts val="1000"/>
              </a:spcAft>
              <a:buNone/>
            </a:pPr>
            <a:r>
              <a:rPr lang="en-US" sz="1450" dirty="0">
                <a:solidFill>
                  <a:srgbClr val="828C9E"/>
                </a:solidFill>
                <a:latin typeface="Calibri" pitchFamily="34" charset="0"/>
                <a:ea typeface="Calibri" pitchFamily="34" charset="-122"/>
                <a:cs typeface="Calibri" pitchFamily="34" charset="-120"/>
              </a:rPr>
              <a:t>)</a:t>
            </a:r>
            <a:endParaRPr lang="en-US" sz="1450" dirty="0"/>
          </a:p>
        </p:txBody>
      </p:sp>
      <p:sp>
        <p:nvSpPr>
          <p:cNvPr id="7" name="Text 4"/>
          <p:cNvSpPr txBox="1"/>
          <p:nvPr/>
        </p:nvSpPr>
        <p:spPr>
          <a:xfrm>
            <a:off x="1783080" y="5257800"/>
            <a:ext cx="8229600" cy="320040"/>
          </a:xfrm>
          <a:prstGeom prst="rect">
            <a:avLst/>
          </a:prstGeom>
          <a:noFill/>
          <a:ln/>
        </p:spPr>
        <p:txBody>
          <a:bodyPr wrap="square" rtlCol="0" anchor="ctr"/>
          <a:lstStyle/>
          <a:p>
            <a:pPr indent="0" marL="0">
              <a:buNone/>
            </a:pPr>
            <a:r>
              <a:rPr lang="en-US" sz="1100" u="sng" dirty="0">
                <a:solidFill>
                  <a:srgbClr val="55607A"/>
                </a:solidFill>
                <a:latin typeface="Calibri" pitchFamily="34" charset="0"/>
                <a:ea typeface="Calibri" pitchFamily="34" charset="-122"/>
                <a:cs typeface="Calibri" pitchFamily="34" charset="-120"/>
              </a:rPr>
              <a:t>id </a:t>
            </a:r>
            <a:pPr indent="0" marL="0">
              <a:buNone/>
            </a:pPr>
            <a:r>
              <a:rPr lang="en-US" sz="1100" dirty="0">
                <a:solidFill>
                  <a:srgbClr val="55607A"/>
                </a:solidFill>
                <a:latin typeface="Calibri" pitchFamily="34" charset="0"/>
                <a:ea typeface="Calibri" pitchFamily="34" charset="-122"/>
                <a:cs typeface="Calibri" pitchFamily="34" charset="-120"/>
              </a:rPr>
              <a:t> clé primaire      </a:t>
            </a:r>
            <a:pPr indent="0" marL="0">
              <a:buNone/>
            </a:pPr>
            <a:r>
              <a:rPr lang="en-US" sz="1100" i="1" dirty="0">
                <a:solidFill>
                  <a:srgbClr val="7A6FB0"/>
                </a:solidFill>
                <a:latin typeface="Calibri" pitchFamily="34" charset="0"/>
                <a:ea typeface="Calibri" pitchFamily="34" charset="-122"/>
                <a:cs typeface="Calibri" pitchFamily="34" charset="-120"/>
              </a:rPr>
              <a:t>#</a:t>
            </a:r>
            <a:pPr indent="0" marL="0">
              <a:buNone/>
            </a:pPr>
            <a:r>
              <a:rPr lang="en-US" sz="1100" dirty="0">
                <a:solidFill>
                  <a:srgbClr val="55607A"/>
                </a:solidFill>
                <a:latin typeface="Calibri" pitchFamily="34" charset="0"/>
                <a:ea typeface="Calibri" pitchFamily="34" charset="-122"/>
                <a:cs typeface="Calibri" pitchFamily="34" charset="-120"/>
              </a:rPr>
              <a:t> clé étrangère</a:t>
            </a:r>
            <a:endParaRPr lang="en-US" sz="1100" dirty="0"/>
          </a:p>
        </p:txBody>
      </p:sp>
      <p:sp>
        <p:nvSpPr>
          <p:cNvPr id="8" name="Text 5"/>
          <p:cNvSpPr txBox="1"/>
          <p:nvPr/>
        </p:nvSpPr>
        <p:spPr>
          <a:xfrm>
            <a:off x="822960" y="5943600"/>
            <a:ext cx="10545775" cy="365760"/>
          </a:xfrm>
          <a:prstGeom prst="rect">
            <a:avLst/>
          </a:prstGeom>
          <a:noFill/>
          <a:ln/>
        </p:spPr>
        <p:txBody>
          <a:bodyPr wrap="square" rtlCol="0" anchor="ctr"/>
          <a:lstStyle/>
          <a:p>
            <a:pPr algn="ctr" indent="0" marL="0">
              <a:buNone/>
            </a:pPr>
            <a:r>
              <a:rPr lang="en-US" sz="1300" i="1" dirty="0">
                <a:solidFill>
                  <a:srgbClr val="828C9E"/>
                </a:solidFill>
                <a:latin typeface="Calibri" pitchFamily="34" charset="0"/>
                <a:ea typeface="Calibri" pitchFamily="34" charset="-122"/>
                <a:cs typeface="Calibri" pitchFamily="34" charset="-120"/>
              </a:rPr>
              <a:t>Modèle Logique de Données (MLD) — les entités deviennent des tables, les relations deviennent des clés étrangères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2026-09-14T19:10:41Z</dcterms:created>
  <dcterms:modified xsi:type="dcterms:W3CDTF">2026-09-14T19:10:41Z</dcterms:modified>
</cp:coreProperties>
</file>