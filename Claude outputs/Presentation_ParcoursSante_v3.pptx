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 Je vais vous présenter Parcours Santé, mon projet pour le titre de Concepteur Développeur d'Applications. C'est une application née d'une expérience personnelle, que je vais vous raconter.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me présente en une minute : mon parcours, ma formation, et surtout ma motivation — ce projet est né de mon vécu, j'y reviens juste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Parcours Santé. Une application pensée pour un patient : ses prochains rendez-vous, ses médicaments du jour, sa dernière entrée de journal — tout au même endroit, en un coup d'œil. Avant de vous expliquer comment je l'ai construite, laissez-moi vous raconter d'où elle 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quoi le projet ? Avant de coder quoi que ce soit, la première chose à faire, c'est de trouver le problème à résoudre. Et ce problème, je ne l'ai pas cherché : je l'ai vécu.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Confronté moi-même à la maladie et à son traitement, j'ai découvert trois difficultés au quotidien. L'organisation : des rendez-vous, des traitements, des symptômes dispersés partout. Le rappel : se souvenir de prendre chaque médicament à la bonne heure. Et la communication : garder une trace claire de ses symptômes pour en parler à son médecin. Aucun outil simple, gratuit et en français ne réunissait tout 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à ça, j'ai décidé de construire la solution moi-même. C'est le début de quelque chose de plus grand : un outil pensé par un patient, pour des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 développer une application. Une application simple, en français, qui tient dans la poche du patient, et qui regroupe tout ce dont il a besoin pour suivre son parcours de 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Parcours Santé centralise le parcours de soin autour de trois modules. Un : les rendez-vous — centraliser tous mes rendez-vous médicaux avec la date, le lieu, le médecin et des notes. Deux : les médicaments — suivre mon traitement et recevoir des rappels de prise. Trois : le journal des symptômes — noter l'intensité de 1 à 10 et visualiser l'évolution sur trente jours. Le tout complété par un tableau de bord à la connexion.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était-ce seulement mon besoin ? Pour le vérifier, je ne me suis pas fié à mon seul ressenti : je suis allé à la rencontre de patients et j'ai mené des entretiens.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 ai tiré trois personas. Marie, 47 ans, en chimiothérapie, veut tout au même endroit sans se compliquer la vie. Robert, 68 ans, en radiothérapie, vit seul et est peu à l'aise avec les applis : il a besoin que ce soit clair et qu'on le lui rappelle. Sarah, 32 ans, développeuse, très organisée, veut suivre précisément l'évolution de ses symptômes. Trois profils, trois niveaux d'aisance — et les mêmes difficultés. Le besoin était réel et partagé.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 sur le périmètre. La version que je vous présente aujourd'hui est une application web responsive, développée avec Symfony : un produit complet et cohérent de bout en bout, accessible depuis un navigateur sans installation. L'évolution prévue, c'est l'application mobile native, avec des notifications push pour les rappels et un accès hors ligne — en réutilisant la même base et la même logique via une API. J'ai fait le choix du web pour livrer quelque chose de complet plutôt qu'un mobile partiel.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propose maintenant une démonstration en direct de l'application. [DÉMO : montrer la connexion, ajouter un rendez-vous, ajouter un médicament et sa prise, modifier un médicament via la popup, créer une entrée de journal et montrer le graphique qui se met à jour.] Prévoir 5 à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à la conception et à la réalisation technique. Je vais vous montrer comment j'ai organisé le projet, modélisé les données, structuré le code, puis développé et sécurisé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j'ai mené ce projet seul et en parallèle d'un traitement, il me fallait une organisation souple. J'ai choisi une méthode agile de type Kanban, avec Trello : chaque fonctionnalité était une carte que je faisais avancer de « à faire » à « terminé ». Après une interruption, je reprenais tout de suite là où j'en étais. Un diagramme de Gantt détaille le planning de février à août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planning du projet sous forme de diagramme de Gantt, de février à août 2026 : le cadrage et l'analyse du besoin, la conception, le développement des fonctionnalités, puis les tests et la documentation. Certaines phases se chevauchent, ce qui est cohérent avec une méthode agile où l'on avance par itérations.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du besoin, j'ai rédigé des user stories — ce que l'utilisateur doit pouvoir faire — puis je les ai priorisées avec la méthode MoSCoW. Le « Must have » : l'essentiel, ce que j'ai développé. Le « Should » et « Could » : des améliorations. Et le « Won't » : ce que j'ai volontairement laissé de côté pour cette version. Ça m'a permis de rester concentré sur la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structuré l'application en couches, selon le patron MVC de Symfony. Chaque couche a un rôle unique : la présentation avec Twig, le contrôleur qui coordonne, la couche métier avec mes services et commandes, l'accès aux données avec les repositories, et la persistance gérée par Doctrine vers MySQL. Cette séparation rend le code lisible, testable, et surtout évolutif — c'est ce qui permettra de réutiliser la logique pour le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données, j'ai suivi la méthode Merise. Le modèle conceptuel, le MCD, représente les sept entités de mon domaine — patient, rendez-vous, médicament, prise, journal, symptôme, catégorie — et les associations entre elles, avec les cardinalités : par exemple, un patient a plusieurs rendez-vous.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MCD est ensuite traduit en modèle logique — les tables avec leurs clés primaires et étrangères — puis en modèle physique, le MPD, avec les types SQL précis, prêt à être créé dans MySQL. On va donc du plus abstrait au plus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 où Merise décrit la base, UML décrit l'application. Le diagramme de cas d'utilisation montre ce que le patient peut faire : s'inscrire, se connecter, gérer ses rendez-vous et ses médicaments, tenir son journal, consulter son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montre la structure objet, avec les attributs et les méthodes — par exemple la méthode isActif d'un médicament. Le diagramme de séquence, lui, montre l'ordre des échanges pour un scénario précis, ici l'ajout d'un médicament : la vue, le contrôleur, le formulaire, l'ORM et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technologies, j'ai fait des choix cohérents et éprouvés : Symfony 7.4 et PHP 8.2 côté serveur, Twig pour les vues, Tailwind pour l'interface, Chart.js pour les graphiques, MySQL avec l'ORM Doctrine pour les données, un environnement local WAMP, et Git pour le versionnement. Des technologies que je maîtrise, ce qui m'a permis d'aller à l'essentiel.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maintenant zoomer sur deux fonctionnalités que j'ai choisi de vous présenter en détail, parce qu'elles portent une vraie logique métier : les rappels de médicament, et le journal des symptômes avec son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fonctionnalité : les rappels. Ce n'est pas une page web, c'est une commande console Symfony. Quand on la lance, elle demande au repository toutes les prises non effectuées, retrouve pour chacune le médicament et le patient, et envoie un email de rappel via Symfony Mailer — en développement vers Mailtrap. Aujourd'hui je la lance manuellement pour démontrer le mécanisme ; l'automatisation par une tâche planifiée est prévue.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même fonctionnalité vue sous l'angle de la conception : le diagramme d'activité des rappels. Il montre la logique pas à pas — on parcourt les prises non effectuées, pour chacune on vérifie l'échéance, on prépare puis on envoie l'email, et on continue jusqu'à la dernière prise. C'est ce schéma qui a guidé l'écriture de la commande.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fonctionnalité : le journal. Le patient note son symptôme, son intensité de 1 à 10 et une remarque. Point technique important : le serveur fournit les données, Twig les injecte dans la page, mais c'est Chart.js, côté navigateur, qui dessine la courbe. Le serveur ne génère pas l'image. Ce graphique est pensé comme un support de dialogue avec l'équipe soignante.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le diagramme de séquence du journal, qui décrit les échanges : le patient demande la page, le contrôleur interroge le repository, récupère les entrées, Twig construit la page et transmet les données à Chart.js qui trace la courbe dans le navigateur. Ce diagramme montre bien la séparation des rôles entre le serveur et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 l'application manipule des données de santé, très sensibles, la sécurité était centrale. Les mots de passe sont hachés par le composant Security de Symfony, de façon irréversible. Chaque patient n'accède qu'à ses propres données, avec une vérification de propriété. Les formulaires sont protégés contre le CSRF par un jeton. Et je respecte les principes du RGPD : minimisation des données et HTTPS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garantir la qualité, j'ai mis en place des tests unitaires avec PHPUnit sur ma logique métier — par exemple la méthode isActif, en vérifiant le cas d'un médicament expiré, à venir, et en cours. Ils passent : 7 tests, 8 assertions. L'étape suivante serait d'ajouter des tests fonctionnels, que j'ai identifiée comme axe d'amélioration.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le déploiement. Aujourd'hui l'application tourne en local sur WAMP, avec le code versionné sur Git. Pour la mise en production, j'ai préparé une procédure reproductible : récupération du code, installation des dépendances, application des migrations Doctrine pour reconstruire la base, et activation du HTTPS. Comme perspectives : la conteneurisation avec Docker et une chaîne d'intégration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aller plus loin sur le déploiement, voici la stratégie d'intégration et de déploiement continus que j'ai imaginée. L'idée : à chaque envoi de code sur la branche principale, une chaîne automatique se déclenche — les tests sont lancés, une image Docker est construite, puis le serveur distant, un VPS, se connecte en SSH et reconstruit le conteneur avec la nouvelle version. Le déploiement devient reproductible et sans manipulation manuelle. C'est une perspective : elle n'est pas encore en place, mais je sais comment la mettre en œuvre.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l'examen, le projet a trouvé un écho concret. Je l'ai présenté au service informatique du Centre Léon Bérard, où je suis soigné, et l'équipe s'y est intéressée : elle envisage de le reprendre et de l'adapter. C'est une collaboration bénévole, née de ma situation de patient — et ça renforce l'exigence de sérieux sur la sécurité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difficultés ont été réelles. D'abord mener ce projet seul, en parallèle d'un traitement. Ensuite, sur le plan technique : modéliser proprement les données, faire évoluer la base sans casser l'existant, et comprendre le fonctionnement de mon environnement — par exemple le cycle de vie de Turbo pour mon graphique. Chaque difficulté m'a fait progresser.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m'a apporté autre chose que des compétences techniques que je possédais déjà. Il m'a appris à concevoir à partir d'un vrai besoin, validé par des utilisateurs, et non d'un cahier des charges théorique. À mener un projet de bout en bout, seul, de l'idée jusqu'à la préparation de la mise en production. À résoudre par moi-même des problèmes que je n'avais pas anticipés. Et surtout, à relier un besoin humain réel à une solution technique — c'est ce qui a donné du sens à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 à la suite, sur le plan technique : automatiser l'envoi des rappels par une tâche planifiée et ajouter les notifications push, mettre en place des tests fonctionnels, renforcer la conformité RGPD, et conteneuriser l'application pour le déploiement. Et ensuite, comme je l'ai annoncé au début, l'application mobile, qui réutilisera la base et la logique via une API. Le projet est pensé comme une première brique, pas comme un aboutissement.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Parcours Santé est né d'une expérience personnelle, celle d'un patient confronté à la charge d'organisation qu'impose un parcours de soin. Ce qui a commencé comme un projet de fin d'année pourrait devenir un outil au service de personnes qui traversent la même épreuve. Et ça, pour moi, c'est la plus belle réussite. Je vous remercie.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22B"/>
        </a:solidFill>
      </p:bgPr>
    </p:bg>
    <p:spTree>
      <p:nvGrpSpPr>
        <p:cNvPr id="1" name=""/>
        <p:cNvGrpSpPr/>
        <p:nvPr/>
      </p:nvGrpSpPr>
      <p:grpSpPr>
        <a:xfrm>
          <a:off x="0" y="0"/>
          <a:ext cx="0" cy="0"/>
          <a:chOff x="0" y="0"/>
          <a:chExt cx="0" cy="0"/>
        </a:xfrm>
      </p:grpSpPr>
      <p:sp>
        <p:nvSpPr>
          <p:cNvPr id="3" name="Shape 0"/>
          <p:cNvSpPr/>
          <p:nvPr/>
        </p:nvSpPr>
        <p:spPr>
          <a:xfrm>
            <a:off x="502920" y="502920"/>
            <a:ext cx="11185855" cy="5852160"/>
          </a:xfrm>
          <a:prstGeom prst="roundRect">
            <a:avLst>
              <a:gd name="adj" fmla="val 1875"/>
            </a:avLst>
          </a:prstGeom>
          <a:ln w="12700">
            <a:solidFill>
              <a:srgbClr val="3A3F4B"/>
            </a:solidFill>
            <a:prstDash val="solid"/>
          </a:ln>
        </p:spPr>
      </p:sp>
      <p:sp>
        <p:nvSpPr>
          <p:cNvPr id="4" name="Shape 1"/>
          <p:cNvSpPr/>
          <p:nvPr/>
        </p:nvSpPr>
        <p:spPr>
          <a:xfrm>
            <a:off x="1005840" y="914400"/>
            <a:ext cx="0" cy="5029200"/>
          </a:xfrm>
          <a:prstGeom prst="line">
            <a:avLst/>
          </a:prstGeom>
          <a:noFill/>
          <a:ln w="12700">
            <a:solidFill>
              <a:srgbClr val="8A8F9C"/>
            </a:solidFill>
            <a:prstDash val="solid"/>
          </a:ln>
        </p:spPr>
      </p:sp>
      <p:sp>
        <p:nvSpPr>
          <p:cNvPr id="5" name="Text 2"/>
          <p:cNvSpPr txBox="1"/>
          <p:nvPr/>
        </p:nvSpPr>
        <p:spPr>
          <a:xfrm>
            <a:off x="0" y="2331720"/>
            <a:ext cx="12191695" cy="365760"/>
          </a:xfrm>
          <a:prstGeom prst="rect">
            <a:avLst/>
          </a:prstGeom>
          <a:noFill/>
          <a:ln/>
        </p:spPr>
        <p:txBody>
          <a:bodyPr wrap="square" rtlCol="0" anchor="ctr"/>
          <a:lstStyle/>
          <a:p>
            <a:pPr algn="ctr" indent="0" marL="0">
              <a:buNone/>
            </a:pPr>
            <a:r>
              <a:rPr lang="en-US" sz="1500" spc="800" kern="0" dirty="0">
                <a:solidFill>
                  <a:srgbClr val="84B497"/>
                </a:solidFill>
                <a:latin typeface="Arial" pitchFamily="34" charset="0"/>
                <a:ea typeface="Arial" pitchFamily="34" charset="-122"/>
                <a:cs typeface="Arial" pitchFamily="34" charset="-120"/>
              </a:rPr>
              <a:t>PARCOURS SANTÉ</a:t>
            </a:r>
            <a:endParaRPr lang="en-US" sz="1500" dirty="0"/>
          </a:p>
        </p:txBody>
      </p:sp>
      <p:sp>
        <p:nvSpPr>
          <p:cNvPr id="6" name="Text 3"/>
          <p:cNvSpPr txBox="1"/>
          <p:nvPr/>
        </p:nvSpPr>
        <p:spPr>
          <a:xfrm>
            <a:off x="0" y="2788920"/>
            <a:ext cx="12191695" cy="1188720"/>
          </a:xfrm>
          <a:prstGeom prst="rect">
            <a:avLst/>
          </a:prstGeom>
          <a:noFill/>
          <a:ln/>
        </p:spPr>
        <p:txBody>
          <a:bodyPr wrap="square"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Soutenance CDA</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2148840"/>
            <a:ext cx="12191695" cy="1097280"/>
          </a:xfrm>
          <a:prstGeom prst="rect">
            <a:avLst/>
          </a:prstGeom>
          <a:noFill/>
          <a:ln/>
        </p:spPr>
        <p:txBody>
          <a:bodyPr wrap="square" rtlCol="0" anchor="ctr"/>
          <a:lstStyle/>
          <a:p>
            <a:pPr algn="ctr" indent="0" marL="0">
              <a:buNone/>
            </a:pPr>
            <a:r>
              <a:rPr lang="en-US" sz="5600" b="1" dirty="0">
                <a:solidFill>
                  <a:srgbClr val="FFFFFF"/>
                </a:solidFill>
                <a:latin typeface="Arial" pitchFamily="34" charset="0"/>
                <a:ea typeface="Arial" pitchFamily="34" charset="-122"/>
                <a:cs typeface="Arial" pitchFamily="34" charset="-120"/>
              </a:rPr>
              <a:t>Qui suis-je?</a:t>
            </a:r>
            <a:endParaRPr lang="en-US" sz="5600" dirty="0"/>
          </a:p>
        </p:txBody>
      </p:sp>
      <p:sp>
        <p:nvSpPr>
          <p:cNvPr id="4" name="Text 1"/>
          <p:cNvSpPr txBox="1"/>
          <p:nvPr/>
        </p:nvSpPr>
        <p:spPr>
          <a:xfrm>
            <a:off x="0" y="3246120"/>
            <a:ext cx="12191695" cy="457200"/>
          </a:xfrm>
          <a:prstGeom prst="rect">
            <a:avLst/>
          </a:prstGeom>
          <a:noFill/>
          <a:ln/>
        </p:spPr>
        <p:txBody>
          <a:bodyPr wrap="square" rtlCol="0" anchor="ctr"/>
          <a:lstStyle/>
          <a:p>
            <a:pPr algn="ctr" indent="0" marL="0">
              <a:buNone/>
            </a:pPr>
            <a:r>
              <a:rPr lang="en-US" sz="2000" dirty="0">
                <a:solidFill>
                  <a:srgbClr val="828C9E"/>
                </a:solidFill>
                <a:latin typeface="Calibri" pitchFamily="34" charset="0"/>
                <a:ea typeface="Calibri" pitchFamily="34" charset="-122"/>
                <a:cs typeface="Calibri" pitchFamily="34" charset="-120"/>
              </a:rPr>
              <a:t>Parcours - Formation - Motivation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22B"/>
        </a:solidFill>
      </p:bgPr>
    </p:bg>
    <p:spTree>
      <p:nvGrpSpPr>
        <p:cNvPr id="1" name=""/>
        <p:cNvGrpSpPr/>
        <p:nvPr/>
      </p:nvGrpSpPr>
      <p:grpSpPr>
        <a:xfrm>
          <a:off x="0" y="0"/>
          <a:ext cx="0" cy="0"/>
          <a:chOff x="0" y="0"/>
          <a:chExt cx="0" cy="0"/>
        </a:xfrm>
      </p:grpSpPr>
      <p:sp>
        <p:nvSpPr>
          <p:cNvPr id="3" name="Shape 0"/>
          <p:cNvSpPr/>
          <p:nvPr/>
        </p:nvSpPr>
        <p:spPr>
          <a:xfrm>
            <a:off x="640080" y="640080"/>
            <a:ext cx="0" cy="5577840"/>
          </a:xfrm>
          <a:prstGeom prst="line">
            <a:avLst/>
          </a:prstGeom>
          <a:noFill/>
          <a:ln w="12700">
            <a:solidFill>
              <a:srgbClr val="8A8F9C"/>
            </a:solidFill>
            <a:prstDash val="solid"/>
          </a:ln>
        </p:spPr>
      </p:sp>
      <p:sp>
        <p:nvSpPr>
          <p:cNvPr id="4" name="Text 1"/>
          <p:cNvSpPr txBox="1"/>
          <p:nvPr/>
        </p:nvSpPr>
        <p:spPr>
          <a:xfrm>
            <a:off x="0" y="868680"/>
            <a:ext cx="1219169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Parcours Santé</a:t>
            </a:r>
            <a:endParaRPr lang="en-US" sz="4400" dirty="0"/>
          </a:p>
        </p:txBody>
      </p:sp>
      <p:pic>
        <p:nvPicPr>
          <p:cNvPr id="5" name="Image 0" descr="/home/claude/parcours-sante-livrables/pitch/phone.png">    </p:cNvPr>
          <p:cNvPicPr>
            <a:picLocks noChangeAspect="1"/>
          </p:cNvPicPr>
          <p:nvPr/>
        </p:nvPicPr>
        <p:blipFill>
          <a:blip r:embed="rId1"/>
          <a:stretch>
            <a:fillRect/>
          </a:stretch>
        </p:blipFill>
        <p:spPr>
          <a:xfrm>
            <a:off x="4480560" y="1714500"/>
            <a:ext cx="3200400" cy="4800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2103120"/>
            <a:ext cx="12191695" cy="1097280"/>
          </a:xfrm>
          <a:prstGeom prst="rect">
            <a:avLst/>
          </a:prstGeom>
          <a:noFill/>
          <a:ln/>
        </p:spPr>
        <p:txBody>
          <a:bodyPr wrap="square" rtlCol="0" anchor="ctr"/>
          <a:lstStyle/>
          <a:p>
            <a:pPr algn="ctr" indent="0" marL="0">
              <a:buNone/>
            </a:pPr>
            <a:r>
              <a:rPr lang="en-US" sz="5600" b="1" dirty="0">
                <a:solidFill>
                  <a:srgbClr val="FFFFFF"/>
                </a:solidFill>
                <a:latin typeface="Arial" pitchFamily="34" charset="0"/>
                <a:ea typeface="Arial" pitchFamily="34" charset="-122"/>
                <a:cs typeface="Arial" pitchFamily="34" charset="-120"/>
              </a:rPr>
              <a:t>C’est quoi le projet ?</a:t>
            </a:r>
            <a:endParaRPr lang="en-US" sz="5600" dirty="0"/>
          </a:p>
        </p:txBody>
      </p:sp>
      <p:sp>
        <p:nvSpPr>
          <p:cNvPr id="4" name="Text 1"/>
          <p:cNvSpPr txBox="1"/>
          <p:nvPr/>
        </p:nvSpPr>
        <p:spPr>
          <a:xfrm>
            <a:off x="0" y="3246120"/>
            <a:ext cx="12191695" cy="457200"/>
          </a:xfrm>
          <a:prstGeom prst="rect">
            <a:avLst/>
          </a:prstGeom>
          <a:noFill/>
          <a:ln/>
        </p:spPr>
        <p:txBody>
          <a:bodyPr wrap="square" rtlCol="0" anchor="ctr"/>
          <a:lstStyle/>
          <a:p>
            <a:pPr algn="ctr" indent="0" marL="0">
              <a:buNone/>
            </a:pPr>
            <a:r>
              <a:rPr lang="en-US" sz="2000" dirty="0">
                <a:solidFill>
                  <a:srgbClr val="828C9E"/>
                </a:solidFill>
                <a:latin typeface="Calibri" pitchFamily="34" charset="0"/>
                <a:ea typeface="Calibri" pitchFamily="34" charset="-122"/>
                <a:cs typeface="Calibri" pitchFamily="34" charset="-120"/>
              </a:rPr>
              <a:t>La première chose à faire est de trouver le problème a résoudre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59436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LES PROBLÈMES À RÉSOUDRE</a:t>
            </a:r>
            <a:endParaRPr lang="en-US" sz="1300" dirty="0"/>
          </a:p>
        </p:txBody>
      </p:sp>
      <p:pic>
        <p:nvPicPr>
          <p:cNvPr id="4" name="Image 0" descr="/home/claude/parcours-sante-livrables/pitch/pb-organisation.png">    </p:cNvPr>
          <p:cNvPicPr>
            <a:picLocks noChangeAspect="1"/>
          </p:cNvPicPr>
          <p:nvPr/>
        </p:nvPicPr>
        <p:blipFill>
          <a:blip r:embed="rId1"/>
          <a:stretch>
            <a:fillRect/>
          </a:stretch>
        </p:blipFill>
        <p:spPr>
          <a:xfrm>
            <a:off x="869468" y="1600200"/>
            <a:ext cx="3153103" cy="2103120"/>
          </a:xfrm>
          <a:prstGeom prst="rect">
            <a:avLst/>
          </a:prstGeom>
        </p:spPr>
      </p:pic>
      <p:sp>
        <p:nvSpPr>
          <p:cNvPr id="5" name="Text 1"/>
          <p:cNvSpPr txBox="1"/>
          <p:nvPr/>
        </p:nvSpPr>
        <p:spPr>
          <a:xfrm>
            <a:off x="868680" y="3931920"/>
            <a:ext cx="31546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Organisation</a:t>
            </a:r>
            <a:endParaRPr lang="en-US" sz="1800" dirty="0"/>
          </a:p>
        </p:txBody>
      </p:sp>
      <p:pic>
        <p:nvPicPr>
          <p:cNvPr id="6" name="Image 1" descr="/home/claude/parcours-sante-livrables/pitch/pb-rappel.png">    </p:cNvPr>
          <p:cNvPicPr>
            <a:picLocks noChangeAspect="1"/>
          </p:cNvPicPr>
          <p:nvPr/>
        </p:nvPicPr>
        <p:blipFill>
          <a:blip r:embed="rId2"/>
          <a:stretch>
            <a:fillRect/>
          </a:stretch>
        </p:blipFill>
        <p:spPr>
          <a:xfrm>
            <a:off x="4764366" y="1600200"/>
            <a:ext cx="2861388" cy="2103120"/>
          </a:xfrm>
          <a:prstGeom prst="rect">
            <a:avLst/>
          </a:prstGeom>
        </p:spPr>
      </p:pic>
      <p:sp>
        <p:nvSpPr>
          <p:cNvPr id="7" name="Text 2"/>
          <p:cNvSpPr txBox="1"/>
          <p:nvPr/>
        </p:nvSpPr>
        <p:spPr>
          <a:xfrm>
            <a:off x="4617720" y="3931920"/>
            <a:ext cx="31546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Rappel</a:t>
            </a:r>
            <a:endParaRPr lang="en-US" sz="1800" dirty="0"/>
          </a:p>
        </p:txBody>
      </p:sp>
      <p:pic>
        <p:nvPicPr>
          <p:cNvPr id="8" name="Image 2" descr="/home/claude/parcours-sante-livrables/pitch/pb-communication.png">    </p:cNvPr>
          <p:cNvPicPr>
            <a:picLocks noChangeAspect="1"/>
          </p:cNvPicPr>
          <p:nvPr/>
        </p:nvPicPr>
        <p:blipFill>
          <a:blip r:embed="rId3"/>
          <a:stretch>
            <a:fillRect/>
          </a:stretch>
        </p:blipFill>
        <p:spPr>
          <a:xfrm>
            <a:off x="8366760" y="1764506"/>
            <a:ext cx="3154680" cy="1774508"/>
          </a:xfrm>
          <a:prstGeom prst="rect">
            <a:avLst/>
          </a:prstGeom>
        </p:spPr>
      </p:pic>
      <p:sp>
        <p:nvSpPr>
          <p:cNvPr id="9" name="Text 3"/>
          <p:cNvSpPr txBox="1"/>
          <p:nvPr/>
        </p:nvSpPr>
        <p:spPr>
          <a:xfrm>
            <a:off x="8366760" y="3931920"/>
            <a:ext cx="31546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Communication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2606040"/>
            <a:ext cx="12191695" cy="1097280"/>
          </a:xfrm>
          <a:prstGeom prst="rect">
            <a:avLst/>
          </a:prstGeom>
          <a:noFill/>
          <a:ln/>
        </p:spPr>
        <p:txBody>
          <a:bodyPr wrap="square" rtlCol="0" anchor="ctr"/>
          <a:lstStyle/>
          <a:p>
            <a:pPr algn="ctr" indent="0" marL="0">
              <a:buNone/>
            </a:pPr>
            <a:r>
              <a:rPr lang="en-US" sz="5600" b="1" dirty="0">
                <a:solidFill>
                  <a:srgbClr val="FFFFFF"/>
                </a:solidFill>
                <a:latin typeface="Arial" pitchFamily="34" charset="0"/>
                <a:ea typeface="Arial" pitchFamily="34" charset="-122"/>
                <a:cs typeface="Arial" pitchFamily="34" charset="-120"/>
              </a:rPr>
              <a:t>La Solution</a:t>
            </a:r>
            <a:endParaRPr lang="en-US" sz="5600" dirty="0"/>
          </a:p>
        </p:txBody>
      </p:sp>
      <p:sp>
        <p:nvSpPr>
          <p:cNvPr id="4" name="Text 1"/>
          <p:cNvSpPr txBox="1"/>
          <p:nvPr/>
        </p:nvSpPr>
        <p:spPr>
          <a:xfrm>
            <a:off x="0" y="3749040"/>
            <a:ext cx="12191695" cy="411480"/>
          </a:xfrm>
          <a:prstGeom prst="rect">
            <a:avLst/>
          </a:prstGeom>
          <a:noFill/>
          <a:ln/>
        </p:spPr>
        <p:txBody>
          <a:bodyPr wrap="square" rtlCol="0" anchor="ctr"/>
          <a:lstStyle/>
          <a:p>
            <a:pPr algn="ctr" indent="0" marL="0">
              <a:buNone/>
            </a:pPr>
            <a:r>
              <a:rPr lang="en-US" sz="1500" spc="600" kern="0" dirty="0">
                <a:solidFill>
                  <a:srgbClr val="B4A7D6"/>
                </a:solidFill>
                <a:latin typeface="Arial" pitchFamily="34" charset="0"/>
                <a:ea typeface="Arial" pitchFamily="34" charset="-122"/>
                <a:cs typeface="Arial" pitchFamily="34" charset="-120"/>
              </a:rPr>
              <a:t>LE DÉBUT DE QUELQUE CHOSE DE GRAND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59436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DÉVELOPPER UNE APPLICATION</a:t>
            </a:r>
            <a:endParaRPr lang="en-US" sz="1300" dirty="0"/>
          </a:p>
        </p:txBody>
      </p:sp>
      <p:pic>
        <p:nvPicPr>
          <p:cNvPr id="4" name="Image 0" descr="/home/claude/parcours-sante-livrables/pitch/laptop.png">    </p:cNvPr>
          <p:cNvPicPr>
            <a:picLocks noChangeAspect="1"/>
          </p:cNvPicPr>
          <p:nvPr/>
        </p:nvPicPr>
        <p:blipFill>
          <a:blip r:embed="rId1"/>
          <a:stretch>
            <a:fillRect/>
          </a:stretch>
        </p:blipFill>
        <p:spPr>
          <a:xfrm>
            <a:off x="3407927" y="1554480"/>
            <a:ext cx="5345667" cy="35661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59436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CENTRALISER LE PARCOURS DE SOIN</a:t>
            </a:r>
            <a:endParaRPr lang="en-US" sz="1300" dirty="0"/>
          </a:p>
        </p:txBody>
      </p:sp>
      <p:pic>
        <p:nvPicPr>
          <p:cNvPr id="4" name="Image 0" descr="/home/claude/parcours-sante-livrables/pitch/n1.png">    </p:cNvPr>
          <p:cNvPicPr>
            <a:picLocks noChangeAspect="1"/>
          </p:cNvPicPr>
          <p:nvPr/>
        </p:nvPicPr>
        <p:blipFill>
          <a:blip r:embed="rId1"/>
          <a:stretch>
            <a:fillRect/>
          </a:stretch>
        </p:blipFill>
        <p:spPr>
          <a:xfrm>
            <a:off x="1417320" y="1463040"/>
            <a:ext cx="2057400" cy="2057400"/>
          </a:xfrm>
          <a:prstGeom prst="rect">
            <a:avLst/>
          </a:prstGeom>
        </p:spPr>
      </p:pic>
      <p:sp>
        <p:nvSpPr>
          <p:cNvPr id="5" name="Text 1"/>
          <p:cNvSpPr txBox="1"/>
          <p:nvPr/>
        </p:nvSpPr>
        <p:spPr>
          <a:xfrm>
            <a:off x="868680" y="3794760"/>
            <a:ext cx="31546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Rendez-vous</a:t>
            </a:r>
            <a:endParaRPr lang="en-US" sz="1800" dirty="0"/>
          </a:p>
        </p:txBody>
      </p:sp>
      <p:sp>
        <p:nvSpPr>
          <p:cNvPr id="6" name="Text 2"/>
          <p:cNvSpPr txBox="1"/>
          <p:nvPr/>
        </p:nvSpPr>
        <p:spPr>
          <a:xfrm>
            <a:off x="960120" y="4251960"/>
            <a:ext cx="2971800" cy="914400"/>
          </a:xfrm>
          <a:prstGeom prst="rect">
            <a:avLst/>
          </a:prstGeom>
          <a:noFill/>
          <a:ln/>
        </p:spPr>
        <p:txBody>
          <a:bodyPr wrap="square" rtlCol="0" anchor="ctr"/>
          <a:lstStyle/>
          <a:p>
            <a:pPr algn="ctr" indent="0" marL="0">
              <a:buNone/>
            </a:pPr>
            <a:r>
              <a:rPr lang="en-US" sz="1500" dirty="0">
                <a:solidFill>
                  <a:srgbClr val="C2C9D4"/>
                </a:solidFill>
                <a:latin typeface="Calibri" pitchFamily="34" charset="0"/>
                <a:ea typeface="Calibri" pitchFamily="34" charset="-122"/>
                <a:cs typeface="Calibri" pitchFamily="34" charset="-120"/>
              </a:rPr>
              <a:t>Centraliser tous mes RDV médicaux (date, lieu, médecin, notes).</a:t>
            </a:r>
            <a:endParaRPr lang="en-US" sz="1500" dirty="0"/>
          </a:p>
        </p:txBody>
      </p:sp>
      <p:pic>
        <p:nvPicPr>
          <p:cNvPr id="7" name="Image 1" descr="/home/claude/parcours-sante-livrables/pitch/n2.png">    </p:cNvPr>
          <p:cNvPicPr>
            <a:picLocks noChangeAspect="1"/>
          </p:cNvPicPr>
          <p:nvPr/>
        </p:nvPicPr>
        <p:blipFill>
          <a:blip r:embed="rId2"/>
          <a:stretch>
            <a:fillRect/>
          </a:stretch>
        </p:blipFill>
        <p:spPr>
          <a:xfrm>
            <a:off x="5166360" y="1463040"/>
            <a:ext cx="2057400" cy="2057400"/>
          </a:xfrm>
          <a:prstGeom prst="rect">
            <a:avLst/>
          </a:prstGeom>
        </p:spPr>
      </p:pic>
      <p:sp>
        <p:nvSpPr>
          <p:cNvPr id="8" name="Text 3"/>
          <p:cNvSpPr txBox="1"/>
          <p:nvPr/>
        </p:nvSpPr>
        <p:spPr>
          <a:xfrm>
            <a:off x="4617720" y="3794760"/>
            <a:ext cx="31546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Médicament</a:t>
            </a:r>
            <a:endParaRPr lang="en-US" sz="1800" dirty="0"/>
          </a:p>
        </p:txBody>
      </p:sp>
      <p:sp>
        <p:nvSpPr>
          <p:cNvPr id="9" name="Text 4"/>
          <p:cNvSpPr txBox="1"/>
          <p:nvPr/>
        </p:nvSpPr>
        <p:spPr>
          <a:xfrm>
            <a:off x="4709160" y="4251960"/>
            <a:ext cx="2971800" cy="914400"/>
          </a:xfrm>
          <a:prstGeom prst="rect">
            <a:avLst/>
          </a:prstGeom>
          <a:noFill/>
          <a:ln/>
        </p:spPr>
        <p:txBody>
          <a:bodyPr wrap="square" rtlCol="0" anchor="ctr"/>
          <a:lstStyle/>
          <a:p>
            <a:pPr algn="ctr" indent="0" marL="0">
              <a:buNone/>
            </a:pPr>
            <a:r>
              <a:rPr lang="en-US" sz="1500" dirty="0">
                <a:solidFill>
                  <a:srgbClr val="C2C9D4"/>
                </a:solidFill>
                <a:latin typeface="Calibri" pitchFamily="34" charset="0"/>
                <a:ea typeface="Calibri" pitchFamily="34" charset="-122"/>
                <a:cs typeface="Calibri" pitchFamily="34" charset="-120"/>
              </a:rPr>
              <a:t>Suivre mon traitement et recevoir des rappels de prise.</a:t>
            </a:r>
            <a:endParaRPr lang="en-US" sz="1500" dirty="0"/>
          </a:p>
        </p:txBody>
      </p:sp>
      <p:pic>
        <p:nvPicPr>
          <p:cNvPr id="10" name="Image 2" descr="/home/claude/parcours-sante-livrables/pitch/n3.png">    </p:cNvPr>
          <p:cNvPicPr>
            <a:picLocks noChangeAspect="1"/>
          </p:cNvPicPr>
          <p:nvPr/>
        </p:nvPicPr>
        <p:blipFill>
          <a:blip r:embed="rId3"/>
          <a:stretch>
            <a:fillRect/>
          </a:stretch>
        </p:blipFill>
        <p:spPr>
          <a:xfrm>
            <a:off x="8915400" y="1463040"/>
            <a:ext cx="2057400" cy="2057400"/>
          </a:xfrm>
          <a:prstGeom prst="rect">
            <a:avLst/>
          </a:prstGeom>
        </p:spPr>
      </p:pic>
      <p:sp>
        <p:nvSpPr>
          <p:cNvPr id="11" name="Text 5"/>
          <p:cNvSpPr txBox="1"/>
          <p:nvPr/>
        </p:nvSpPr>
        <p:spPr>
          <a:xfrm>
            <a:off x="8366760" y="3794760"/>
            <a:ext cx="31546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Journal des symptômes</a:t>
            </a:r>
            <a:endParaRPr lang="en-US" sz="1800" dirty="0"/>
          </a:p>
        </p:txBody>
      </p:sp>
      <p:sp>
        <p:nvSpPr>
          <p:cNvPr id="12" name="Text 6"/>
          <p:cNvSpPr txBox="1"/>
          <p:nvPr/>
        </p:nvSpPr>
        <p:spPr>
          <a:xfrm>
            <a:off x="8458200" y="4251960"/>
            <a:ext cx="2971800" cy="914400"/>
          </a:xfrm>
          <a:prstGeom prst="rect">
            <a:avLst/>
          </a:prstGeom>
          <a:noFill/>
          <a:ln/>
        </p:spPr>
        <p:txBody>
          <a:bodyPr wrap="square" rtlCol="0" anchor="ctr"/>
          <a:lstStyle/>
          <a:p>
            <a:pPr algn="ctr" indent="0" marL="0">
              <a:buNone/>
            </a:pPr>
            <a:r>
              <a:rPr lang="en-US" sz="1500" dirty="0">
                <a:solidFill>
                  <a:srgbClr val="C2C9D4"/>
                </a:solidFill>
                <a:latin typeface="Calibri" pitchFamily="34" charset="0"/>
                <a:ea typeface="Calibri" pitchFamily="34" charset="-122"/>
                <a:cs typeface="Calibri" pitchFamily="34" charset="-120"/>
              </a:rPr>
              <a:t>Noter l’intensité (1-10) et visualiser l’évolution sur 30 jours.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2651760"/>
            <a:ext cx="12191695" cy="1097280"/>
          </a:xfrm>
          <a:prstGeom prst="rect">
            <a:avLst/>
          </a:prstGeom>
          <a:noFill/>
          <a:ln/>
        </p:spPr>
        <p:txBody>
          <a:bodyPr wrap="square" rtlCol="0" anchor="ctr"/>
          <a:lstStyle/>
          <a:p>
            <a:pPr algn="ctr" indent="0" marL="0">
              <a:buNone/>
            </a:pPr>
            <a:r>
              <a:rPr lang="en-US" sz="5200" b="1" dirty="0">
                <a:solidFill>
                  <a:srgbClr val="FFFFFF"/>
                </a:solidFill>
                <a:latin typeface="Arial" pitchFamily="34" charset="0"/>
                <a:ea typeface="Arial" pitchFamily="34" charset="-122"/>
                <a:cs typeface="Arial" pitchFamily="34" charset="-120"/>
              </a:rPr>
              <a:t>Personas</a:t>
            </a:r>
            <a:endParaRPr lang="en-US" sz="5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22B"/>
        </a:solidFill>
      </p:bgPr>
    </p:bg>
    <p:spTree>
      <p:nvGrpSpPr>
        <p:cNvPr id="1" name=""/>
        <p:cNvGrpSpPr/>
        <p:nvPr/>
      </p:nvGrpSpPr>
      <p:grpSpPr>
        <a:xfrm>
          <a:off x="0" y="0"/>
          <a:ext cx="0" cy="0"/>
          <a:chOff x="0" y="0"/>
          <a:chExt cx="0" cy="0"/>
        </a:xfrm>
      </p:grpSpPr>
      <p:sp>
        <p:nvSpPr>
          <p:cNvPr id="3" name="Text 0"/>
          <p:cNvSpPr txBox="1"/>
          <p:nvPr/>
        </p:nvSpPr>
        <p:spPr>
          <a:xfrm>
            <a:off x="0" y="59436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PERSONAS</a:t>
            </a:r>
            <a:endParaRPr lang="en-US" sz="1300" dirty="0"/>
          </a:p>
        </p:txBody>
      </p:sp>
      <p:sp>
        <p:nvSpPr>
          <p:cNvPr id="4" name="Shape 1"/>
          <p:cNvSpPr/>
          <p:nvPr/>
        </p:nvSpPr>
        <p:spPr>
          <a:xfrm>
            <a:off x="1554480" y="1216514"/>
            <a:ext cx="9052560" cy="4424972"/>
          </a:xfrm>
          <a:prstGeom prst="rect">
            <a:avLst/>
          </a:prstGeom>
          <a:solidFill>
            <a:srgbClr val="FFFFFF"/>
          </a:solidFill>
          <a:ln/>
        </p:spPr>
      </p:sp>
      <p:pic>
        <p:nvPicPr>
          <p:cNvPr id="5" name="Image 0" descr="/home/claude/parcours-sante-livrables/pitch/personas.png">    </p:cNvPr>
          <p:cNvPicPr>
            <a:picLocks noChangeAspect="1"/>
          </p:cNvPicPr>
          <p:nvPr/>
        </p:nvPicPr>
        <p:blipFill>
          <a:blip r:embed="rId1"/>
          <a:stretch>
            <a:fillRect/>
          </a:stretch>
        </p:blipFill>
        <p:spPr>
          <a:xfrm>
            <a:off x="1554480" y="1216514"/>
            <a:ext cx="9052560" cy="44249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22B"/>
        </a:solidFill>
      </p:bgPr>
    </p:bg>
    <p:spTree>
      <p:nvGrpSpPr>
        <p:cNvPr id="1" name=""/>
        <p:cNvGrpSpPr/>
        <p:nvPr/>
      </p:nvGrpSpPr>
      <p:grpSpPr>
        <a:xfrm>
          <a:off x="0" y="0"/>
          <a:ext cx="0" cy="0"/>
          <a:chOff x="0" y="0"/>
          <a:chExt cx="0" cy="0"/>
        </a:xfrm>
      </p:grpSpPr>
      <p:sp>
        <p:nvSpPr>
          <p:cNvPr id="3" name="Shape 0"/>
          <p:cNvSpPr/>
          <p:nvPr/>
        </p:nvSpPr>
        <p:spPr>
          <a:xfrm>
            <a:off x="0" y="0"/>
            <a:ext cx="6095848" cy="6858000"/>
          </a:xfrm>
          <a:prstGeom prst="rect">
            <a:avLst/>
          </a:prstGeom>
          <a:solidFill>
            <a:srgbClr val="2A2E3A"/>
          </a:solidFill>
          <a:ln/>
        </p:spPr>
      </p:sp>
      <p:sp>
        <p:nvSpPr>
          <p:cNvPr id="4" name="Text 1"/>
          <p:cNvSpPr txBox="1"/>
          <p:nvPr/>
        </p:nvSpPr>
        <p:spPr>
          <a:xfrm>
            <a:off x="365760" y="320040"/>
            <a:ext cx="5364328" cy="82296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Version présentée</a:t>
            </a:r>
            <a:endParaRPr lang="en-US" sz="3600" dirty="0"/>
          </a:p>
        </p:txBody>
      </p:sp>
      <p:sp>
        <p:nvSpPr>
          <p:cNvPr id="5" name="Text 2"/>
          <p:cNvSpPr txBox="1"/>
          <p:nvPr/>
        </p:nvSpPr>
        <p:spPr>
          <a:xfrm>
            <a:off x="6461608" y="320040"/>
            <a:ext cx="5364328" cy="82296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Evolution prévue</a:t>
            </a:r>
            <a:endParaRPr lang="en-US" sz="3600" dirty="0"/>
          </a:p>
        </p:txBody>
      </p:sp>
      <p:sp>
        <p:nvSpPr>
          <p:cNvPr id="6" name="Text 3"/>
          <p:cNvSpPr txBox="1"/>
          <p:nvPr/>
        </p:nvSpPr>
        <p:spPr>
          <a:xfrm>
            <a:off x="1280160" y="1554480"/>
            <a:ext cx="4754880" cy="3200400"/>
          </a:xfrm>
          <a:prstGeom prst="rect">
            <a:avLst/>
          </a:prstGeom>
          <a:noFill/>
          <a:ln/>
        </p:spPr>
        <p:txBody>
          <a:bodyPr wrap="square" rtlCol="0" anchor="t"/>
          <a:lstStyle/>
          <a:p>
            <a:pPr marL="177800" indent="-177800">
              <a:spcAft>
                <a:spcPts val="1400"/>
              </a:spcAft>
              <a:buSzPct val="100000"/>
              <a:buChar char="•"/>
            </a:pPr>
            <a:r>
              <a:rPr lang="en-US" sz="1600" dirty="0">
                <a:solidFill>
                  <a:srgbClr val="C2C9D4"/>
                </a:solidFill>
                <a:latin typeface="Calibri" pitchFamily="34" charset="0"/>
                <a:ea typeface="Calibri" pitchFamily="34" charset="-122"/>
                <a:cs typeface="Calibri" pitchFamily="34" charset="-120"/>
              </a:rPr>
              <a:t>Application web responsive (Symfony)</a:t>
            </a:r>
            <a:endParaRPr lang="en-US" sz="1600" dirty="0"/>
          </a:p>
          <a:p>
            <a:pPr marL="177800" indent="-177800">
              <a:spcAft>
                <a:spcPts val="1400"/>
              </a:spcAft>
              <a:buSzPct val="100000"/>
              <a:buChar char="•"/>
            </a:pPr>
            <a:r>
              <a:rPr lang="en-US" sz="1600" dirty="0">
                <a:solidFill>
                  <a:srgbClr val="C2C9D4"/>
                </a:solidFill>
                <a:latin typeface="Calibri" pitchFamily="34" charset="0"/>
                <a:ea typeface="Calibri" pitchFamily="34" charset="-122"/>
                <a:cs typeface="Calibri" pitchFamily="34" charset="-120"/>
              </a:rPr>
              <a:t>Un produit complet et cohérent de bout en bout</a:t>
            </a:r>
            <a:endParaRPr lang="en-US" sz="1600" dirty="0"/>
          </a:p>
          <a:p>
            <a:pPr marL="177800" indent="-177800">
              <a:spcAft>
                <a:spcPts val="1400"/>
              </a:spcAft>
              <a:buSzPct val="100000"/>
              <a:buChar char="•"/>
            </a:pPr>
            <a:r>
              <a:rPr lang="en-US" sz="1600" dirty="0">
                <a:solidFill>
                  <a:srgbClr val="C2C9D4"/>
                </a:solidFill>
                <a:latin typeface="Calibri" pitchFamily="34" charset="0"/>
                <a:ea typeface="Calibri" pitchFamily="34" charset="-122"/>
                <a:cs typeface="Calibri" pitchFamily="34" charset="-120"/>
              </a:rPr>
              <a:t>Accessible depuis un navigateur, sans installation</a:t>
            </a:r>
            <a:endParaRPr lang="en-US" sz="1600" dirty="0"/>
          </a:p>
        </p:txBody>
      </p:sp>
      <p:sp>
        <p:nvSpPr>
          <p:cNvPr id="7" name="Text 4"/>
          <p:cNvSpPr txBox="1"/>
          <p:nvPr/>
        </p:nvSpPr>
        <p:spPr>
          <a:xfrm>
            <a:off x="7193128" y="1554480"/>
            <a:ext cx="4937760" cy="3474720"/>
          </a:xfrm>
          <a:prstGeom prst="rect">
            <a:avLst/>
          </a:prstGeom>
          <a:noFill/>
          <a:ln/>
        </p:spPr>
        <p:txBody>
          <a:bodyPr wrap="square" rtlCol="0" anchor="t"/>
          <a:lstStyle/>
          <a:p>
            <a:pPr marL="177800" indent="-177800">
              <a:spcAft>
                <a:spcPts val="1400"/>
              </a:spcAft>
              <a:buSzPct val="100000"/>
              <a:buChar char="•"/>
            </a:pPr>
            <a:r>
              <a:rPr lang="en-US" sz="1600" dirty="0">
                <a:solidFill>
                  <a:srgbClr val="C2C9D4"/>
                </a:solidFill>
                <a:latin typeface="Calibri" pitchFamily="34" charset="0"/>
                <a:ea typeface="Calibri" pitchFamily="34" charset="-122"/>
                <a:cs typeface="Calibri" pitchFamily="34" charset="-120"/>
              </a:rPr>
              <a:t>Application mobile native (IOS/Android)</a:t>
            </a:r>
            <a:endParaRPr lang="en-US" sz="1600" dirty="0"/>
          </a:p>
          <a:p>
            <a:pPr marL="177800" indent="-177800">
              <a:spcAft>
                <a:spcPts val="1400"/>
              </a:spcAft>
              <a:buSzPct val="100000"/>
              <a:buChar char="•"/>
            </a:pPr>
            <a:r>
              <a:rPr lang="en-US" sz="1600" dirty="0">
                <a:solidFill>
                  <a:srgbClr val="C2C9D4"/>
                </a:solidFill>
                <a:latin typeface="Calibri" pitchFamily="34" charset="0"/>
                <a:ea typeface="Calibri" pitchFamily="34" charset="-122"/>
                <a:cs typeface="Calibri" pitchFamily="34" charset="-120"/>
              </a:rPr>
              <a:t>Notifications push pour les rappels</a:t>
            </a:r>
            <a:endParaRPr lang="en-US" sz="1600" dirty="0"/>
          </a:p>
          <a:p>
            <a:pPr marL="177800" indent="-177800">
              <a:spcAft>
                <a:spcPts val="1400"/>
              </a:spcAft>
              <a:buSzPct val="100000"/>
              <a:buChar char="•"/>
            </a:pPr>
            <a:r>
              <a:rPr lang="en-US" sz="1600" dirty="0">
                <a:solidFill>
                  <a:srgbClr val="C2C9D4"/>
                </a:solidFill>
                <a:latin typeface="Calibri" pitchFamily="34" charset="0"/>
                <a:ea typeface="Calibri" pitchFamily="34" charset="-122"/>
                <a:cs typeface="Calibri" pitchFamily="34" charset="-120"/>
              </a:rPr>
              <a:t>Accès hors ligne aux données de santé</a:t>
            </a:r>
            <a:endParaRPr lang="en-US" sz="1600" dirty="0"/>
          </a:p>
          <a:p>
            <a:pPr marL="177800" indent="-177800">
              <a:spcAft>
                <a:spcPts val="1400"/>
              </a:spcAft>
              <a:buSzPct val="100000"/>
              <a:buChar char="•"/>
            </a:pPr>
            <a:r>
              <a:rPr lang="en-US" sz="1600" dirty="0">
                <a:solidFill>
                  <a:srgbClr val="C2C9D4"/>
                </a:solidFill>
                <a:latin typeface="Calibri" pitchFamily="34" charset="0"/>
                <a:ea typeface="Calibri" pitchFamily="34" charset="-122"/>
                <a:cs typeface="Calibri" pitchFamily="34" charset="-120"/>
              </a:rPr>
              <a:t>Réutilisation de la même base et de la même logique via une API</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651760"/>
            <a:ext cx="10545775" cy="914400"/>
          </a:xfrm>
          <a:prstGeom prst="rect">
            <a:avLst/>
          </a:prstGeom>
          <a:noFill/>
          <a:ln/>
        </p:spPr>
        <p:txBody>
          <a:bodyPr wrap="square"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Démonstration en direct</a:t>
            </a:r>
            <a:endParaRPr lang="en-US" sz="4600" dirty="0"/>
          </a:p>
        </p:txBody>
      </p:sp>
      <p:sp>
        <p:nvSpPr>
          <p:cNvPr id="4" name="Text 1"/>
          <p:cNvSpPr txBox="1"/>
          <p:nvPr/>
        </p:nvSpPr>
        <p:spPr>
          <a:xfrm>
            <a:off x="822960" y="370332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Parcours complet : connexion · rendez-vous · médicaments · journal</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468880"/>
            <a:ext cx="10545775" cy="914400"/>
          </a:xfrm>
          <a:prstGeom prst="rect">
            <a:avLst/>
          </a:prstGeom>
          <a:noFill/>
          <a:ln/>
        </p:spPr>
        <p:txBody>
          <a:bodyPr wrap="square"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Conception &amp; réalisation</a:t>
            </a:r>
            <a:endParaRPr lang="en-US" sz="4600" dirty="0"/>
          </a:p>
        </p:txBody>
      </p:sp>
      <p:sp>
        <p:nvSpPr>
          <p:cNvPr id="4" name="Text 1"/>
          <p:cNvSpPr txBox="1"/>
          <p:nvPr/>
        </p:nvSpPr>
        <p:spPr>
          <a:xfrm>
            <a:off x="822960" y="342900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De l’organisation du projet au code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029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Comment j’ai organisé le projet</a:t>
            </a:r>
            <a:endParaRPr lang="en-US" sz="3200" dirty="0"/>
          </a:p>
        </p:txBody>
      </p:sp>
      <p:sp>
        <p:nvSpPr>
          <p:cNvPr id="4" name="Text 1"/>
          <p:cNvSpPr txBox="1"/>
          <p:nvPr/>
        </p:nvSpPr>
        <p:spPr>
          <a:xfrm>
            <a:off x="822960" y="1371600"/>
            <a:ext cx="10545775" cy="457200"/>
          </a:xfrm>
          <a:prstGeom prst="rect">
            <a:avLst/>
          </a:prstGeom>
          <a:noFill/>
          <a:ln/>
        </p:spPr>
        <p:txBody>
          <a:bodyPr wrap="square" rtlCol="0" anchor="ctr"/>
          <a:lstStyle/>
          <a:p>
            <a:pPr algn="ctr" indent="0" marL="0">
              <a:buNone/>
            </a:pPr>
            <a:r>
              <a:rPr lang="en-US" sz="1500" dirty="0">
                <a:solidFill>
                  <a:srgbClr val="828C9E"/>
                </a:solidFill>
                <a:latin typeface="Calibri" pitchFamily="34" charset="0"/>
                <a:ea typeface="Calibri" pitchFamily="34" charset="-122"/>
                <a:cs typeface="Calibri" pitchFamily="34" charset="-120"/>
              </a:rPr>
              <a:t>Méthode agile Kanban, pilotée avec Trello</a:t>
            </a:r>
            <a:endParaRPr lang="en-US" sz="1500" dirty="0"/>
          </a:p>
        </p:txBody>
      </p:sp>
      <p:sp>
        <p:nvSpPr>
          <p:cNvPr id="5" name="Shape 2"/>
          <p:cNvSpPr/>
          <p:nvPr/>
        </p:nvSpPr>
        <p:spPr>
          <a:xfrm>
            <a:off x="822960" y="2103120"/>
            <a:ext cx="3291840" cy="2286000"/>
          </a:xfrm>
          <a:prstGeom prst="roundRect">
            <a:avLst>
              <a:gd name="adj" fmla="val 3600"/>
            </a:avLst>
          </a:prstGeom>
          <a:solidFill>
            <a:srgbClr val="232C3D"/>
          </a:solidFill>
          <a:ln/>
        </p:spPr>
      </p:sp>
      <p:sp>
        <p:nvSpPr>
          <p:cNvPr id="6" name="Text 3"/>
          <p:cNvSpPr txBox="1"/>
          <p:nvPr/>
        </p:nvSpPr>
        <p:spPr>
          <a:xfrm>
            <a:off x="10972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À faire</a:t>
            </a:r>
            <a:endParaRPr lang="en-US" sz="1600" dirty="0"/>
          </a:p>
        </p:txBody>
      </p:sp>
      <p:sp>
        <p:nvSpPr>
          <p:cNvPr id="7" name="Shape 4"/>
          <p:cNvSpPr/>
          <p:nvPr/>
        </p:nvSpPr>
        <p:spPr>
          <a:xfrm>
            <a:off x="1097280" y="2834640"/>
            <a:ext cx="2743200" cy="365760"/>
          </a:xfrm>
          <a:prstGeom prst="roundRect">
            <a:avLst>
              <a:gd name="adj" fmla="val 12500"/>
            </a:avLst>
          </a:prstGeom>
          <a:solidFill>
            <a:srgbClr val="1B2130"/>
          </a:solidFill>
          <a:ln/>
        </p:spPr>
      </p:sp>
      <p:sp>
        <p:nvSpPr>
          <p:cNvPr id="8" name="Shape 5"/>
          <p:cNvSpPr/>
          <p:nvPr/>
        </p:nvSpPr>
        <p:spPr>
          <a:xfrm>
            <a:off x="1097280" y="3291840"/>
            <a:ext cx="2743200" cy="365760"/>
          </a:xfrm>
          <a:prstGeom prst="roundRect">
            <a:avLst>
              <a:gd name="adj" fmla="val 12500"/>
            </a:avLst>
          </a:prstGeom>
          <a:solidFill>
            <a:srgbClr val="1B2130"/>
          </a:solidFill>
          <a:ln/>
        </p:spPr>
      </p:sp>
      <p:sp>
        <p:nvSpPr>
          <p:cNvPr id="9" name="Shape 6"/>
          <p:cNvSpPr/>
          <p:nvPr/>
        </p:nvSpPr>
        <p:spPr>
          <a:xfrm>
            <a:off x="1097280" y="3749040"/>
            <a:ext cx="2743200" cy="365760"/>
          </a:xfrm>
          <a:prstGeom prst="roundRect">
            <a:avLst>
              <a:gd name="adj" fmla="val 12500"/>
            </a:avLst>
          </a:prstGeom>
          <a:solidFill>
            <a:srgbClr val="1B2130"/>
          </a:solidFill>
          <a:ln/>
        </p:spPr>
      </p:sp>
      <p:sp>
        <p:nvSpPr>
          <p:cNvPr id="10" name="Shape 7"/>
          <p:cNvSpPr/>
          <p:nvPr/>
        </p:nvSpPr>
        <p:spPr>
          <a:xfrm>
            <a:off x="4480560" y="2103120"/>
            <a:ext cx="3291840" cy="2286000"/>
          </a:xfrm>
          <a:prstGeom prst="roundRect">
            <a:avLst>
              <a:gd name="adj" fmla="val 3600"/>
            </a:avLst>
          </a:prstGeom>
          <a:solidFill>
            <a:srgbClr val="232C3D"/>
          </a:solidFill>
          <a:ln/>
        </p:spPr>
      </p:sp>
      <p:sp>
        <p:nvSpPr>
          <p:cNvPr id="11" name="Text 8"/>
          <p:cNvSpPr txBox="1"/>
          <p:nvPr/>
        </p:nvSpPr>
        <p:spPr>
          <a:xfrm>
            <a:off x="47548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En cours</a:t>
            </a:r>
            <a:endParaRPr lang="en-US" sz="1600" dirty="0"/>
          </a:p>
        </p:txBody>
      </p:sp>
      <p:sp>
        <p:nvSpPr>
          <p:cNvPr id="12" name="Shape 9"/>
          <p:cNvSpPr/>
          <p:nvPr/>
        </p:nvSpPr>
        <p:spPr>
          <a:xfrm>
            <a:off x="4754880" y="2834640"/>
            <a:ext cx="2743200" cy="365760"/>
          </a:xfrm>
          <a:prstGeom prst="roundRect">
            <a:avLst>
              <a:gd name="adj" fmla="val 12500"/>
            </a:avLst>
          </a:prstGeom>
          <a:solidFill>
            <a:srgbClr val="1B2130"/>
          </a:solidFill>
          <a:ln/>
        </p:spPr>
      </p:sp>
      <p:sp>
        <p:nvSpPr>
          <p:cNvPr id="13" name="Shape 10"/>
          <p:cNvSpPr/>
          <p:nvPr/>
        </p:nvSpPr>
        <p:spPr>
          <a:xfrm>
            <a:off x="4754880" y="3291840"/>
            <a:ext cx="2743200" cy="365760"/>
          </a:xfrm>
          <a:prstGeom prst="roundRect">
            <a:avLst>
              <a:gd name="adj" fmla="val 12500"/>
            </a:avLst>
          </a:prstGeom>
          <a:solidFill>
            <a:srgbClr val="1B2130"/>
          </a:solidFill>
          <a:ln/>
        </p:spPr>
      </p:sp>
      <p:sp>
        <p:nvSpPr>
          <p:cNvPr id="14" name="Shape 11"/>
          <p:cNvSpPr/>
          <p:nvPr/>
        </p:nvSpPr>
        <p:spPr>
          <a:xfrm>
            <a:off x="4754880" y="3749040"/>
            <a:ext cx="2743200" cy="365760"/>
          </a:xfrm>
          <a:prstGeom prst="roundRect">
            <a:avLst>
              <a:gd name="adj" fmla="val 12500"/>
            </a:avLst>
          </a:prstGeom>
          <a:solidFill>
            <a:srgbClr val="1B2130"/>
          </a:solidFill>
          <a:ln/>
        </p:spPr>
      </p:sp>
      <p:sp>
        <p:nvSpPr>
          <p:cNvPr id="15" name="Shape 12"/>
          <p:cNvSpPr/>
          <p:nvPr/>
        </p:nvSpPr>
        <p:spPr>
          <a:xfrm>
            <a:off x="8138160" y="2103120"/>
            <a:ext cx="3291840" cy="2286000"/>
          </a:xfrm>
          <a:prstGeom prst="roundRect">
            <a:avLst>
              <a:gd name="adj" fmla="val 3600"/>
            </a:avLst>
          </a:prstGeom>
          <a:solidFill>
            <a:srgbClr val="232C3D"/>
          </a:solidFill>
          <a:ln/>
        </p:spPr>
      </p:sp>
      <p:sp>
        <p:nvSpPr>
          <p:cNvPr id="16" name="Text 13"/>
          <p:cNvSpPr txBox="1"/>
          <p:nvPr/>
        </p:nvSpPr>
        <p:spPr>
          <a:xfrm>
            <a:off x="8412480" y="2286000"/>
            <a:ext cx="2743200" cy="457200"/>
          </a:xfrm>
          <a:prstGeom prst="rect">
            <a:avLst/>
          </a:prstGeom>
          <a:noFill/>
          <a:ln/>
        </p:spPr>
        <p:txBody>
          <a:bodyPr wrap="square" rtlCol="0" anchor="ctr"/>
          <a:lstStyle/>
          <a:p>
            <a:pPr indent="0" marL="0">
              <a:buNone/>
            </a:pPr>
            <a:r>
              <a:rPr lang="en-US" sz="1600" b="1" dirty="0">
                <a:solidFill>
                  <a:srgbClr val="B4A7D6"/>
                </a:solidFill>
                <a:latin typeface="Arial" pitchFamily="34" charset="0"/>
                <a:ea typeface="Arial" pitchFamily="34" charset="-122"/>
                <a:cs typeface="Arial" pitchFamily="34" charset="-120"/>
              </a:rPr>
              <a:t>Terminé</a:t>
            </a:r>
            <a:endParaRPr lang="en-US" sz="1600" dirty="0"/>
          </a:p>
        </p:txBody>
      </p:sp>
      <p:sp>
        <p:nvSpPr>
          <p:cNvPr id="17" name="Shape 14"/>
          <p:cNvSpPr/>
          <p:nvPr/>
        </p:nvSpPr>
        <p:spPr>
          <a:xfrm>
            <a:off x="8412480" y="2834640"/>
            <a:ext cx="2743200" cy="365760"/>
          </a:xfrm>
          <a:prstGeom prst="roundRect">
            <a:avLst>
              <a:gd name="adj" fmla="val 12500"/>
            </a:avLst>
          </a:prstGeom>
          <a:solidFill>
            <a:srgbClr val="1B2130"/>
          </a:solidFill>
          <a:ln/>
        </p:spPr>
      </p:sp>
      <p:sp>
        <p:nvSpPr>
          <p:cNvPr id="18" name="Shape 15"/>
          <p:cNvSpPr/>
          <p:nvPr/>
        </p:nvSpPr>
        <p:spPr>
          <a:xfrm>
            <a:off x="8412480" y="3291840"/>
            <a:ext cx="2743200" cy="365760"/>
          </a:xfrm>
          <a:prstGeom prst="roundRect">
            <a:avLst>
              <a:gd name="adj" fmla="val 12500"/>
            </a:avLst>
          </a:prstGeom>
          <a:solidFill>
            <a:srgbClr val="1B2130"/>
          </a:solidFill>
          <a:ln/>
        </p:spPr>
      </p:sp>
      <p:sp>
        <p:nvSpPr>
          <p:cNvPr id="19" name="Shape 16"/>
          <p:cNvSpPr/>
          <p:nvPr/>
        </p:nvSpPr>
        <p:spPr>
          <a:xfrm>
            <a:off x="8412480" y="3749040"/>
            <a:ext cx="2743200" cy="365760"/>
          </a:xfrm>
          <a:prstGeom prst="roundRect">
            <a:avLst>
              <a:gd name="adj" fmla="val 12500"/>
            </a:avLst>
          </a:prstGeom>
          <a:solidFill>
            <a:srgbClr val="1B2130"/>
          </a:solidFill>
          <a:ln/>
        </p:spPr>
      </p:sp>
      <p:sp>
        <p:nvSpPr>
          <p:cNvPr id="20" name="Text 17"/>
          <p:cNvSpPr txBox="1"/>
          <p:nvPr/>
        </p:nvSpPr>
        <p:spPr>
          <a:xfrm>
            <a:off x="822960" y="4754880"/>
            <a:ext cx="10545775" cy="457200"/>
          </a:xfrm>
          <a:prstGeom prst="rect">
            <a:avLst/>
          </a:prstGeom>
          <a:noFill/>
          <a:ln/>
        </p:spPr>
        <p:txBody>
          <a:bodyPr wrap="square" rtlCol="0" anchor="ctr"/>
          <a:lstStyle/>
          <a:p>
            <a:pPr algn="ctr" indent="0" marL="0">
              <a:buNone/>
            </a:pPr>
            <a:r>
              <a:rPr lang="en-US" sz="1400" dirty="0">
                <a:solidFill>
                  <a:srgbClr val="C2C9D4"/>
                </a:solidFill>
                <a:latin typeface="Calibri" pitchFamily="34" charset="0"/>
                <a:ea typeface="Calibri" pitchFamily="34" charset="-122"/>
                <a:cs typeface="Calibri" pitchFamily="34" charset="-120"/>
              </a:rPr>
              <a:t>Chaque fonctionnalité était une carte, que je faisais avancer d’une colonne à l’autre.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PLANNING — DIAGRAMME DE GANTT</a:t>
            </a:r>
            <a:endParaRPr lang="en-US" sz="1300" dirty="0"/>
          </a:p>
        </p:txBody>
      </p:sp>
      <p:sp>
        <p:nvSpPr>
          <p:cNvPr id="4" name="Shape 1"/>
          <p:cNvSpPr/>
          <p:nvPr/>
        </p:nvSpPr>
        <p:spPr>
          <a:xfrm>
            <a:off x="1280160" y="1262766"/>
            <a:ext cx="9601200" cy="4606788"/>
          </a:xfrm>
          <a:prstGeom prst="roundRect">
            <a:avLst>
              <a:gd name="adj" fmla="val 158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gantt-parcours-sante.png">    </p:cNvPr>
          <p:cNvPicPr>
            <a:picLocks noChangeAspect="1"/>
          </p:cNvPicPr>
          <p:nvPr/>
        </p:nvPicPr>
        <p:blipFill>
          <a:blip r:embed="rId1"/>
          <a:stretch>
            <a:fillRect/>
          </a:stretch>
        </p:blipFill>
        <p:spPr>
          <a:xfrm>
            <a:off x="1389888" y="1372494"/>
            <a:ext cx="9381744" cy="43873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4864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De l’analyse à la priorisation</a:t>
            </a:r>
            <a:endParaRPr lang="en-US" sz="3200" dirty="0"/>
          </a:p>
        </p:txBody>
      </p:sp>
      <p:sp>
        <p:nvSpPr>
          <p:cNvPr id="4" name="Text 1"/>
          <p:cNvSpPr txBox="1"/>
          <p:nvPr/>
        </p:nvSpPr>
        <p:spPr>
          <a:xfrm>
            <a:off x="822960" y="1371600"/>
            <a:ext cx="10545775" cy="457200"/>
          </a:xfrm>
          <a:prstGeom prst="rect">
            <a:avLst/>
          </a:prstGeom>
          <a:noFill/>
          <a:ln/>
        </p:spPr>
        <p:txBody>
          <a:bodyPr wrap="square" rtlCol="0" anchor="ctr"/>
          <a:lstStyle/>
          <a:p>
            <a:pPr algn="ctr" indent="0" marL="0">
              <a:buNone/>
            </a:pPr>
            <a:r>
              <a:rPr lang="en-US" sz="1500" dirty="0">
                <a:solidFill>
                  <a:srgbClr val="828C9E"/>
                </a:solidFill>
                <a:latin typeface="Calibri" pitchFamily="34" charset="0"/>
                <a:ea typeface="Calibri" pitchFamily="34" charset="-122"/>
                <a:cs typeface="Calibri" pitchFamily="34" charset="-120"/>
              </a:rPr>
              <a:t>User stories, priorisées avec la méthode MoSCoW</a:t>
            </a:r>
            <a:endParaRPr lang="en-US" sz="1500" dirty="0"/>
          </a:p>
        </p:txBody>
      </p:sp>
      <p:sp>
        <p:nvSpPr>
          <p:cNvPr id="5" name="Shape 2"/>
          <p:cNvSpPr/>
          <p:nvPr/>
        </p:nvSpPr>
        <p:spPr>
          <a:xfrm>
            <a:off x="1463040" y="2011680"/>
            <a:ext cx="9235440" cy="822960"/>
          </a:xfrm>
          <a:prstGeom prst="roundRect">
            <a:avLst>
              <a:gd name="adj" fmla="val 10000"/>
            </a:avLst>
          </a:prstGeom>
          <a:solidFill>
            <a:srgbClr val="232C3D"/>
          </a:solidFill>
          <a:ln/>
        </p:spPr>
      </p:sp>
      <p:sp>
        <p:nvSpPr>
          <p:cNvPr id="6" name="Text 3"/>
          <p:cNvSpPr txBox="1"/>
          <p:nvPr/>
        </p:nvSpPr>
        <p:spPr>
          <a:xfrm>
            <a:off x="1691640" y="210312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Must have</a:t>
            </a:r>
            <a:endParaRPr lang="en-US" sz="1500" dirty="0"/>
          </a:p>
        </p:txBody>
      </p:sp>
      <p:sp>
        <p:nvSpPr>
          <p:cNvPr id="7" name="Text 4"/>
          <p:cNvSpPr txBox="1"/>
          <p:nvPr/>
        </p:nvSpPr>
        <p:spPr>
          <a:xfrm>
            <a:off x="4114800" y="210312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Inscription, RDV, médicaments, rappels, journal, graphique, tableau de bord, sécurité</a:t>
            </a:r>
            <a:endParaRPr lang="en-US" sz="1300" dirty="0"/>
          </a:p>
        </p:txBody>
      </p:sp>
      <p:sp>
        <p:nvSpPr>
          <p:cNvPr id="8" name="Shape 5"/>
          <p:cNvSpPr/>
          <p:nvPr/>
        </p:nvSpPr>
        <p:spPr>
          <a:xfrm>
            <a:off x="1463040" y="2971800"/>
            <a:ext cx="9235440" cy="822960"/>
          </a:xfrm>
          <a:prstGeom prst="roundRect">
            <a:avLst>
              <a:gd name="adj" fmla="val 10000"/>
            </a:avLst>
          </a:prstGeom>
          <a:solidFill>
            <a:srgbClr val="232C3D"/>
          </a:solidFill>
          <a:ln/>
        </p:spPr>
      </p:sp>
      <p:sp>
        <p:nvSpPr>
          <p:cNvPr id="9" name="Text 6"/>
          <p:cNvSpPr txBox="1"/>
          <p:nvPr/>
        </p:nvSpPr>
        <p:spPr>
          <a:xfrm>
            <a:off x="1691640" y="306324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Should have</a:t>
            </a:r>
            <a:endParaRPr lang="en-US" sz="1500" dirty="0"/>
          </a:p>
        </p:txBody>
      </p:sp>
      <p:sp>
        <p:nvSpPr>
          <p:cNvPr id="10" name="Text 7"/>
          <p:cNvSpPr txBox="1"/>
          <p:nvPr/>
        </p:nvSpPr>
        <p:spPr>
          <a:xfrm>
            <a:off x="4114800" y="306324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Reset mot de passe, prises effectuées, catégories, profil</a:t>
            </a:r>
            <a:endParaRPr lang="en-US" sz="1300" dirty="0"/>
          </a:p>
        </p:txBody>
      </p:sp>
      <p:sp>
        <p:nvSpPr>
          <p:cNvPr id="11" name="Shape 8"/>
          <p:cNvSpPr/>
          <p:nvPr/>
        </p:nvSpPr>
        <p:spPr>
          <a:xfrm>
            <a:off x="1463040" y="3931920"/>
            <a:ext cx="9235440" cy="822960"/>
          </a:xfrm>
          <a:prstGeom prst="roundRect">
            <a:avLst>
              <a:gd name="adj" fmla="val 10000"/>
            </a:avLst>
          </a:prstGeom>
          <a:solidFill>
            <a:srgbClr val="232C3D"/>
          </a:solidFill>
          <a:ln/>
        </p:spPr>
      </p:sp>
      <p:sp>
        <p:nvSpPr>
          <p:cNvPr id="12" name="Text 9"/>
          <p:cNvSpPr txBox="1"/>
          <p:nvPr/>
        </p:nvSpPr>
        <p:spPr>
          <a:xfrm>
            <a:off x="1691640" y="402336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Could have</a:t>
            </a:r>
            <a:endParaRPr lang="en-US" sz="1500" dirty="0"/>
          </a:p>
        </p:txBody>
      </p:sp>
      <p:sp>
        <p:nvSpPr>
          <p:cNvPr id="13" name="Text 10"/>
          <p:cNvSpPr txBox="1"/>
          <p:nvPr/>
        </p:nvSpPr>
        <p:spPr>
          <a:xfrm>
            <a:off x="4114800" y="402336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Rappels automatisés, notifications RDV, export</a:t>
            </a:r>
            <a:endParaRPr lang="en-US" sz="1300" dirty="0"/>
          </a:p>
        </p:txBody>
      </p:sp>
      <p:sp>
        <p:nvSpPr>
          <p:cNvPr id="14" name="Shape 11"/>
          <p:cNvSpPr/>
          <p:nvPr/>
        </p:nvSpPr>
        <p:spPr>
          <a:xfrm>
            <a:off x="1463040" y="4892040"/>
            <a:ext cx="9235440" cy="822960"/>
          </a:xfrm>
          <a:prstGeom prst="roundRect">
            <a:avLst>
              <a:gd name="adj" fmla="val 10000"/>
            </a:avLst>
          </a:prstGeom>
          <a:solidFill>
            <a:srgbClr val="232C3D"/>
          </a:solidFill>
          <a:ln/>
        </p:spPr>
      </p:sp>
      <p:sp>
        <p:nvSpPr>
          <p:cNvPr id="15" name="Text 12"/>
          <p:cNvSpPr txBox="1"/>
          <p:nvPr/>
        </p:nvSpPr>
        <p:spPr>
          <a:xfrm>
            <a:off x="1691640" y="4983480"/>
            <a:ext cx="2377440" cy="640080"/>
          </a:xfrm>
          <a:prstGeom prst="rect">
            <a:avLst/>
          </a:prstGeom>
          <a:noFill/>
          <a:ln/>
        </p:spPr>
        <p:txBody>
          <a:bodyPr wrap="square" rtlCol="0" anchor="ctr"/>
          <a:lstStyle/>
          <a:p>
            <a:pPr indent="0" marL="0">
              <a:buNone/>
            </a:pPr>
            <a:r>
              <a:rPr lang="en-US" sz="1500" b="1" dirty="0">
                <a:solidFill>
                  <a:srgbClr val="B4A7D6"/>
                </a:solidFill>
                <a:latin typeface="Arial" pitchFamily="34" charset="0"/>
                <a:ea typeface="Arial" pitchFamily="34" charset="-122"/>
                <a:cs typeface="Arial" pitchFamily="34" charset="-120"/>
              </a:rPr>
              <a:t>Won’t (cette version)</a:t>
            </a:r>
            <a:endParaRPr lang="en-US" sz="1500" dirty="0"/>
          </a:p>
        </p:txBody>
      </p:sp>
      <p:sp>
        <p:nvSpPr>
          <p:cNvPr id="16" name="Text 13"/>
          <p:cNvSpPr txBox="1"/>
          <p:nvPr/>
        </p:nvSpPr>
        <p:spPr>
          <a:xfrm>
            <a:off x="4114800" y="4983480"/>
            <a:ext cx="6400800" cy="640080"/>
          </a:xfrm>
          <a:prstGeom prst="rect">
            <a:avLst/>
          </a:prstGeom>
          <a:noFill/>
          <a:ln/>
        </p:spPr>
        <p:txBody>
          <a:bodyPr wrap="square" rtlCol="0" anchor="ctr"/>
          <a:lstStyle/>
          <a:p>
            <a:pPr indent="0" marL="0">
              <a:buNone/>
            </a:pPr>
            <a:r>
              <a:rPr lang="en-US" sz="1300" dirty="0">
                <a:solidFill>
                  <a:srgbClr val="C2C9D4"/>
                </a:solidFill>
                <a:latin typeface="Calibri" pitchFamily="34" charset="0"/>
                <a:ea typeface="Calibri" pitchFamily="34" charset="-122"/>
                <a:cs typeface="Calibri" pitchFamily="34" charset="-120"/>
              </a:rPr>
              <a:t>App mobile, notifications push, API publique, accès hors ligne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ARCHITECTURE TECHNIQUE EN COUCHES (MVC)</a:t>
            </a:r>
            <a:endParaRPr lang="en-US" sz="1300" dirty="0"/>
          </a:p>
        </p:txBody>
      </p:sp>
      <p:sp>
        <p:nvSpPr>
          <p:cNvPr id="4" name="Shape 1"/>
          <p:cNvSpPr/>
          <p:nvPr/>
        </p:nvSpPr>
        <p:spPr>
          <a:xfrm>
            <a:off x="822960" y="1543063"/>
            <a:ext cx="5669280" cy="4046194"/>
          </a:xfrm>
          <a:prstGeom prst="roundRect">
            <a:avLst>
              <a:gd name="adj" fmla="val 180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archi-parcours-sante.png">    </p:cNvPr>
          <p:cNvPicPr>
            <a:picLocks noChangeAspect="1"/>
          </p:cNvPicPr>
          <p:nvPr/>
        </p:nvPicPr>
        <p:blipFill>
          <a:blip r:embed="rId1"/>
          <a:stretch>
            <a:fillRect/>
          </a:stretch>
        </p:blipFill>
        <p:spPr>
          <a:xfrm>
            <a:off x="932688" y="1652791"/>
            <a:ext cx="5449824" cy="3826738"/>
          </a:xfrm>
          <a:prstGeom prst="rect">
            <a:avLst/>
          </a:prstGeom>
        </p:spPr>
      </p:pic>
      <p:sp>
        <p:nvSpPr>
          <p:cNvPr id="6" name="Text 2"/>
          <p:cNvSpPr txBox="1"/>
          <p:nvPr/>
        </p:nvSpPr>
        <p:spPr>
          <a:xfrm>
            <a:off x="6858000" y="1828800"/>
            <a:ext cx="4754880" cy="365760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Présentation : vues Twig, Tailwind, Chart.js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Contrôleur : reçoit la requête, coordonne</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Métier : services &amp; commandes (rappels)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Accès aux données : repositories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Persistance : Doctrine ↔ MySQL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DES DONNÉES — MERISE</a:t>
            </a:r>
            <a:endParaRPr lang="en-US" sz="1300" dirty="0"/>
          </a:p>
        </p:txBody>
      </p:sp>
      <p:sp>
        <p:nvSpPr>
          <p:cNvPr id="4" name="Shape 1"/>
          <p:cNvSpPr/>
          <p:nvPr/>
        </p:nvSpPr>
        <p:spPr>
          <a:xfrm>
            <a:off x="2606966" y="1188720"/>
            <a:ext cx="6947588" cy="4572000"/>
          </a:xfrm>
          <a:prstGeom prst="roundRect">
            <a:avLst>
              <a:gd name="adj" fmla="val 1600"/>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cd-parcours-sante.png">    </p:cNvPr>
          <p:cNvPicPr>
            <a:picLocks noChangeAspect="1"/>
          </p:cNvPicPr>
          <p:nvPr/>
        </p:nvPicPr>
        <p:blipFill>
          <a:blip r:embed="rId1"/>
          <a:stretch>
            <a:fillRect/>
          </a:stretch>
        </p:blipFill>
        <p:spPr>
          <a:xfrm>
            <a:off x="2716694" y="1298448"/>
            <a:ext cx="6728132" cy="4352544"/>
          </a:xfrm>
          <a:prstGeom prst="rect">
            <a:avLst/>
          </a:prstGeom>
        </p:spPr>
      </p:pic>
      <p:sp>
        <p:nvSpPr>
          <p:cNvPr id="6" name="Text 2"/>
          <p:cNvSpPr txBox="1"/>
          <p:nvPr/>
        </p:nvSpPr>
        <p:spPr>
          <a:xfrm>
            <a:off x="822960" y="594360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Modèle Conceptuel de Données (MCD) — 7 entités et leurs associations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DU CONCEPTUEL AU PHYSIQUE — MLD &amp; MPD</a:t>
            </a:r>
            <a:endParaRPr lang="en-US" sz="1300" dirty="0"/>
          </a:p>
        </p:txBody>
      </p:sp>
      <p:sp>
        <p:nvSpPr>
          <p:cNvPr id="4" name="Shape 1"/>
          <p:cNvSpPr/>
          <p:nvPr/>
        </p:nvSpPr>
        <p:spPr>
          <a:xfrm>
            <a:off x="2718759" y="1188720"/>
            <a:ext cx="6724001" cy="4572000"/>
          </a:xfrm>
          <a:prstGeom prst="roundRect">
            <a:avLst>
              <a:gd name="adj" fmla="val 1600"/>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pd-parcours-sante.png">    </p:cNvPr>
          <p:cNvPicPr>
            <a:picLocks noChangeAspect="1"/>
          </p:cNvPicPr>
          <p:nvPr/>
        </p:nvPicPr>
        <p:blipFill>
          <a:blip r:embed="rId1"/>
          <a:stretch>
            <a:fillRect/>
          </a:stretch>
        </p:blipFill>
        <p:spPr>
          <a:xfrm>
            <a:off x="2828487" y="1298448"/>
            <a:ext cx="6504545" cy="4352544"/>
          </a:xfrm>
          <a:prstGeom prst="rect">
            <a:avLst/>
          </a:prstGeom>
        </p:spPr>
      </p:pic>
      <p:sp>
        <p:nvSpPr>
          <p:cNvPr id="6" name="Text 2"/>
          <p:cNvSpPr txBox="1"/>
          <p:nvPr/>
        </p:nvSpPr>
        <p:spPr>
          <a:xfrm>
            <a:off x="822960" y="594360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Modèle Physique de Données (MPD) — tables, types SQL et clés, prêtes pour MySQL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UML — CAS D’UTILISATION</a:t>
            </a:r>
            <a:endParaRPr lang="en-US" sz="1300" dirty="0"/>
          </a:p>
        </p:txBody>
      </p:sp>
      <p:sp>
        <p:nvSpPr>
          <p:cNvPr id="4" name="Shape 1"/>
          <p:cNvSpPr/>
          <p:nvPr/>
        </p:nvSpPr>
        <p:spPr>
          <a:xfrm>
            <a:off x="2688506" y="1234440"/>
            <a:ext cx="6784508" cy="4754880"/>
          </a:xfrm>
          <a:prstGeom prst="roundRect">
            <a:avLst>
              <a:gd name="adj" fmla="val 153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uc-parcours-sante.png">    </p:cNvPr>
          <p:cNvPicPr>
            <a:picLocks noChangeAspect="1"/>
          </p:cNvPicPr>
          <p:nvPr/>
        </p:nvPicPr>
        <p:blipFill>
          <a:blip r:embed="rId1"/>
          <a:stretch>
            <a:fillRect/>
          </a:stretch>
        </p:blipFill>
        <p:spPr>
          <a:xfrm>
            <a:off x="2798234" y="1344168"/>
            <a:ext cx="6565052" cy="45354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CONCEPTION UML — CLASSES &amp; SÉQUENCE</a:t>
            </a:r>
            <a:endParaRPr lang="en-US" sz="1300" dirty="0"/>
          </a:p>
        </p:txBody>
      </p:sp>
      <p:sp>
        <p:nvSpPr>
          <p:cNvPr id="4" name="Shape 1"/>
          <p:cNvSpPr/>
          <p:nvPr/>
        </p:nvSpPr>
        <p:spPr>
          <a:xfrm>
            <a:off x="640080" y="1669071"/>
            <a:ext cx="5486400" cy="3794179"/>
          </a:xfrm>
          <a:prstGeom prst="roundRect">
            <a:avLst>
              <a:gd name="adj" fmla="val 1928"/>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classes-parcours-sante.png">    </p:cNvPr>
          <p:cNvPicPr>
            <a:picLocks noChangeAspect="1"/>
          </p:cNvPicPr>
          <p:nvPr/>
        </p:nvPicPr>
        <p:blipFill>
          <a:blip r:embed="rId1"/>
          <a:stretch>
            <a:fillRect/>
          </a:stretch>
        </p:blipFill>
        <p:spPr>
          <a:xfrm>
            <a:off x="749808" y="1778799"/>
            <a:ext cx="5266944" cy="3574723"/>
          </a:xfrm>
          <a:prstGeom prst="rect">
            <a:avLst/>
          </a:prstGeom>
        </p:spPr>
      </p:pic>
      <p:sp>
        <p:nvSpPr>
          <p:cNvPr id="6" name="Shape 2"/>
          <p:cNvSpPr/>
          <p:nvPr/>
        </p:nvSpPr>
        <p:spPr>
          <a:xfrm>
            <a:off x="6126480" y="1805287"/>
            <a:ext cx="5486400" cy="3521746"/>
          </a:xfrm>
          <a:prstGeom prst="roundRect">
            <a:avLst>
              <a:gd name="adj" fmla="val 2077"/>
            </a:avLst>
          </a:prstGeom>
          <a:solidFill>
            <a:srgbClr val="FFFFFF"/>
          </a:solidFill>
          <a:ln/>
          <a:effectLst>
            <a:outerShdw sx="100000" sy="100000" kx="0" ky="0" algn="bl" rotWithShape="0" blurRad="127000" dist="38100" dir="5400000">
              <a:srgbClr val="000000">
                <a:alpha val="35000"/>
              </a:srgbClr>
            </a:outerShdw>
          </a:effectLst>
        </p:spPr>
      </p:sp>
      <p:pic>
        <p:nvPicPr>
          <p:cNvPr id="7" name="Image 1" descr="/home/claude/parcours-sante-livrables/seq-ajout-medicament.png">    </p:cNvPr>
          <p:cNvPicPr>
            <a:picLocks noChangeAspect="1"/>
          </p:cNvPicPr>
          <p:nvPr/>
        </p:nvPicPr>
        <p:blipFill>
          <a:blip r:embed="rId2"/>
          <a:stretch>
            <a:fillRect/>
          </a:stretch>
        </p:blipFill>
        <p:spPr>
          <a:xfrm>
            <a:off x="6236208" y="1915015"/>
            <a:ext cx="5266944" cy="3302290"/>
          </a:xfrm>
          <a:prstGeom prst="rect">
            <a:avLst/>
          </a:prstGeom>
        </p:spPr>
      </p:pic>
      <p:sp>
        <p:nvSpPr>
          <p:cNvPr id="8" name="Text 3"/>
          <p:cNvSpPr txBox="1"/>
          <p:nvPr/>
        </p:nvSpPr>
        <p:spPr>
          <a:xfrm>
            <a:off x="822960" y="5897880"/>
            <a:ext cx="10545775" cy="320040"/>
          </a:xfrm>
          <a:prstGeom prst="rect">
            <a:avLst/>
          </a:prstGeom>
          <a:noFill/>
          <a:ln/>
        </p:spPr>
        <p:txBody>
          <a:bodyPr wrap="square" rtlCol="0" anchor="ctr"/>
          <a:lstStyle/>
          <a:p>
            <a:pPr algn="ctr" indent="0" marL="0">
              <a:buNone/>
            </a:pPr>
            <a:r>
              <a:rPr lang="en-US" sz="1100" i="1" dirty="0">
                <a:solidFill>
                  <a:srgbClr val="828C9E"/>
                </a:solidFill>
                <a:latin typeface="Calibri" pitchFamily="34" charset="0"/>
                <a:ea typeface="Calibri" pitchFamily="34" charset="-122"/>
                <a:cs typeface="Calibri" pitchFamily="34" charset="-120"/>
              </a:rPr>
              <a:t>Diagramme de classes (à gauche) et de séquence « ajouter un médicament » (à droite)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54864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Choix technologiques</a:t>
            </a:r>
            <a:endParaRPr lang="en-US" sz="3200" dirty="0"/>
          </a:p>
        </p:txBody>
      </p:sp>
      <p:sp>
        <p:nvSpPr>
          <p:cNvPr id="4" name="Shape 1"/>
          <p:cNvSpPr/>
          <p:nvPr/>
        </p:nvSpPr>
        <p:spPr>
          <a:xfrm>
            <a:off x="685800" y="1828800"/>
            <a:ext cx="2514600" cy="1417320"/>
          </a:xfrm>
          <a:prstGeom prst="roundRect">
            <a:avLst>
              <a:gd name="adj" fmla="val 5806"/>
            </a:avLst>
          </a:prstGeom>
          <a:solidFill>
            <a:srgbClr val="232C3D"/>
          </a:solidFill>
          <a:ln/>
        </p:spPr>
      </p:sp>
      <p:sp>
        <p:nvSpPr>
          <p:cNvPr id="5" name="Text 2"/>
          <p:cNvSpPr txBox="1"/>
          <p:nvPr/>
        </p:nvSpPr>
        <p:spPr>
          <a:xfrm>
            <a:off x="86868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Symfony 7.4</a:t>
            </a:r>
            <a:endParaRPr lang="en-US" sz="1600" dirty="0"/>
          </a:p>
        </p:txBody>
      </p:sp>
      <p:sp>
        <p:nvSpPr>
          <p:cNvPr id="6" name="Text 3"/>
          <p:cNvSpPr txBox="1"/>
          <p:nvPr/>
        </p:nvSpPr>
        <p:spPr>
          <a:xfrm>
            <a:off x="86868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Framework serveur</a:t>
            </a:r>
            <a:endParaRPr lang="en-US" sz="1200" dirty="0"/>
          </a:p>
        </p:txBody>
      </p:sp>
      <p:sp>
        <p:nvSpPr>
          <p:cNvPr id="7" name="Shape 4"/>
          <p:cNvSpPr/>
          <p:nvPr/>
        </p:nvSpPr>
        <p:spPr>
          <a:xfrm>
            <a:off x="3474720" y="1828800"/>
            <a:ext cx="2514600" cy="1417320"/>
          </a:xfrm>
          <a:prstGeom prst="roundRect">
            <a:avLst>
              <a:gd name="adj" fmla="val 5806"/>
            </a:avLst>
          </a:prstGeom>
          <a:solidFill>
            <a:srgbClr val="232C3D"/>
          </a:solidFill>
          <a:ln/>
        </p:spPr>
      </p:sp>
      <p:sp>
        <p:nvSpPr>
          <p:cNvPr id="8" name="Text 5"/>
          <p:cNvSpPr txBox="1"/>
          <p:nvPr/>
        </p:nvSpPr>
        <p:spPr>
          <a:xfrm>
            <a:off x="365760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PHP 8.2</a:t>
            </a:r>
            <a:endParaRPr lang="en-US" sz="1600" dirty="0"/>
          </a:p>
        </p:txBody>
      </p:sp>
      <p:sp>
        <p:nvSpPr>
          <p:cNvPr id="9" name="Text 6"/>
          <p:cNvSpPr txBox="1"/>
          <p:nvPr/>
        </p:nvSpPr>
        <p:spPr>
          <a:xfrm>
            <a:off x="365760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Langage</a:t>
            </a:r>
            <a:endParaRPr lang="en-US" sz="1200" dirty="0"/>
          </a:p>
        </p:txBody>
      </p:sp>
      <p:sp>
        <p:nvSpPr>
          <p:cNvPr id="10" name="Shape 7"/>
          <p:cNvSpPr/>
          <p:nvPr/>
        </p:nvSpPr>
        <p:spPr>
          <a:xfrm>
            <a:off x="6263640" y="1828800"/>
            <a:ext cx="2514600" cy="1417320"/>
          </a:xfrm>
          <a:prstGeom prst="roundRect">
            <a:avLst>
              <a:gd name="adj" fmla="val 5806"/>
            </a:avLst>
          </a:prstGeom>
          <a:solidFill>
            <a:srgbClr val="232C3D"/>
          </a:solidFill>
          <a:ln/>
        </p:spPr>
      </p:sp>
      <p:sp>
        <p:nvSpPr>
          <p:cNvPr id="11" name="Text 8"/>
          <p:cNvSpPr txBox="1"/>
          <p:nvPr/>
        </p:nvSpPr>
        <p:spPr>
          <a:xfrm>
            <a:off x="644652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Twig</a:t>
            </a:r>
            <a:endParaRPr lang="en-US" sz="1600" dirty="0"/>
          </a:p>
        </p:txBody>
      </p:sp>
      <p:sp>
        <p:nvSpPr>
          <p:cNvPr id="12" name="Text 9"/>
          <p:cNvSpPr txBox="1"/>
          <p:nvPr/>
        </p:nvSpPr>
        <p:spPr>
          <a:xfrm>
            <a:off x="644652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Moteur de vues</a:t>
            </a:r>
            <a:endParaRPr lang="en-US" sz="1200" dirty="0"/>
          </a:p>
        </p:txBody>
      </p:sp>
      <p:sp>
        <p:nvSpPr>
          <p:cNvPr id="13" name="Shape 10"/>
          <p:cNvSpPr/>
          <p:nvPr/>
        </p:nvSpPr>
        <p:spPr>
          <a:xfrm>
            <a:off x="9052560" y="1828800"/>
            <a:ext cx="2514600" cy="1417320"/>
          </a:xfrm>
          <a:prstGeom prst="roundRect">
            <a:avLst>
              <a:gd name="adj" fmla="val 5806"/>
            </a:avLst>
          </a:prstGeom>
          <a:solidFill>
            <a:srgbClr val="232C3D"/>
          </a:solidFill>
          <a:ln/>
        </p:spPr>
      </p:sp>
      <p:sp>
        <p:nvSpPr>
          <p:cNvPr id="14" name="Text 11"/>
          <p:cNvSpPr txBox="1"/>
          <p:nvPr/>
        </p:nvSpPr>
        <p:spPr>
          <a:xfrm>
            <a:off x="9235440" y="210312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Tailwind CSS</a:t>
            </a:r>
            <a:endParaRPr lang="en-US" sz="1600" dirty="0"/>
          </a:p>
        </p:txBody>
      </p:sp>
      <p:sp>
        <p:nvSpPr>
          <p:cNvPr id="15" name="Text 12"/>
          <p:cNvSpPr txBox="1"/>
          <p:nvPr/>
        </p:nvSpPr>
        <p:spPr>
          <a:xfrm>
            <a:off x="9235440" y="265176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Interface</a:t>
            </a:r>
            <a:endParaRPr lang="en-US" sz="1200" dirty="0"/>
          </a:p>
        </p:txBody>
      </p:sp>
      <p:sp>
        <p:nvSpPr>
          <p:cNvPr id="16" name="Shape 13"/>
          <p:cNvSpPr/>
          <p:nvPr/>
        </p:nvSpPr>
        <p:spPr>
          <a:xfrm>
            <a:off x="685800" y="3566160"/>
            <a:ext cx="2514600" cy="1417320"/>
          </a:xfrm>
          <a:prstGeom prst="roundRect">
            <a:avLst>
              <a:gd name="adj" fmla="val 5806"/>
            </a:avLst>
          </a:prstGeom>
          <a:solidFill>
            <a:srgbClr val="232C3D"/>
          </a:solidFill>
          <a:ln/>
        </p:spPr>
      </p:sp>
      <p:sp>
        <p:nvSpPr>
          <p:cNvPr id="17" name="Text 14"/>
          <p:cNvSpPr txBox="1"/>
          <p:nvPr/>
        </p:nvSpPr>
        <p:spPr>
          <a:xfrm>
            <a:off x="86868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Chart.js</a:t>
            </a:r>
            <a:endParaRPr lang="en-US" sz="1600" dirty="0"/>
          </a:p>
        </p:txBody>
      </p:sp>
      <p:sp>
        <p:nvSpPr>
          <p:cNvPr id="18" name="Text 15"/>
          <p:cNvSpPr txBox="1"/>
          <p:nvPr/>
        </p:nvSpPr>
        <p:spPr>
          <a:xfrm>
            <a:off x="86868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Graphiques</a:t>
            </a:r>
            <a:endParaRPr lang="en-US" sz="1200" dirty="0"/>
          </a:p>
        </p:txBody>
      </p:sp>
      <p:sp>
        <p:nvSpPr>
          <p:cNvPr id="19" name="Shape 16"/>
          <p:cNvSpPr/>
          <p:nvPr/>
        </p:nvSpPr>
        <p:spPr>
          <a:xfrm>
            <a:off x="3474720" y="3566160"/>
            <a:ext cx="2514600" cy="1417320"/>
          </a:xfrm>
          <a:prstGeom prst="roundRect">
            <a:avLst>
              <a:gd name="adj" fmla="val 5806"/>
            </a:avLst>
          </a:prstGeom>
          <a:solidFill>
            <a:srgbClr val="232C3D"/>
          </a:solidFill>
          <a:ln/>
        </p:spPr>
      </p:sp>
      <p:sp>
        <p:nvSpPr>
          <p:cNvPr id="20" name="Text 17"/>
          <p:cNvSpPr txBox="1"/>
          <p:nvPr/>
        </p:nvSpPr>
        <p:spPr>
          <a:xfrm>
            <a:off x="365760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MySQL + Doctrine</a:t>
            </a:r>
            <a:endParaRPr lang="en-US" sz="1600" dirty="0"/>
          </a:p>
        </p:txBody>
      </p:sp>
      <p:sp>
        <p:nvSpPr>
          <p:cNvPr id="21" name="Text 18"/>
          <p:cNvSpPr txBox="1"/>
          <p:nvPr/>
        </p:nvSpPr>
        <p:spPr>
          <a:xfrm>
            <a:off x="365760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Base &amp; ORM</a:t>
            </a:r>
            <a:endParaRPr lang="en-US" sz="1200" dirty="0"/>
          </a:p>
        </p:txBody>
      </p:sp>
      <p:sp>
        <p:nvSpPr>
          <p:cNvPr id="22" name="Shape 19"/>
          <p:cNvSpPr/>
          <p:nvPr/>
        </p:nvSpPr>
        <p:spPr>
          <a:xfrm>
            <a:off x="6263640" y="3566160"/>
            <a:ext cx="2514600" cy="1417320"/>
          </a:xfrm>
          <a:prstGeom prst="roundRect">
            <a:avLst>
              <a:gd name="adj" fmla="val 5806"/>
            </a:avLst>
          </a:prstGeom>
          <a:solidFill>
            <a:srgbClr val="232C3D"/>
          </a:solidFill>
          <a:ln/>
        </p:spPr>
      </p:sp>
      <p:sp>
        <p:nvSpPr>
          <p:cNvPr id="23" name="Text 20"/>
          <p:cNvSpPr txBox="1"/>
          <p:nvPr/>
        </p:nvSpPr>
        <p:spPr>
          <a:xfrm>
            <a:off x="644652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WAMP</a:t>
            </a:r>
            <a:endParaRPr lang="en-US" sz="1600" dirty="0"/>
          </a:p>
        </p:txBody>
      </p:sp>
      <p:sp>
        <p:nvSpPr>
          <p:cNvPr id="24" name="Text 21"/>
          <p:cNvSpPr txBox="1"/>
          <p:nvPr/>
        </p:nvSpPr>
        <p:spPr>
          <a:xfrm>
            <a:off x="644652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Environnement local</a:t>
            </a:r>
            <a:endParaRPr lang="en-US" sz="1200" dirty="0"/>
          </a:p>
        </p:txBody>
      </p:sp>
      <p:sp>
        <p:nvSpPr>
          <p:cNvPr id="25" name="Shape 22"/>
          <p:cNvSpPr/>
          <p:nvPr/>
        </p:nvSpPr>
        <p:spPr>
          <a:xfrm>
            <a:off x="9052560" y="3566160"/>
            <a:ext cx="2514600" cy="1417320"/>
          </a:xfrm>
          <a:prstGeom prst="roundRect">
            <a:avLst>
              <a:gd name="adj" fmla="val 5806"/>
            </a:avLst>
          </a:prstGeom>
          <a:solidFill>
            <a:srgbClr val="232C3D"/>
          </a:solidFill>
          <a:ln/>
        </p:spPr>
      </p:sp>
      <p:sp>
        <p:nvSpPr>
          <p:cNvPr id="26" name="Text 23"/>
          <p:cNvSpPr txBox="1"/>
          <p:nvPr/>
        </p:nvSpPr>
        <p:spPr>
          <a:xfrm>
            <a:off x="9235440" y="3840480"/>
            <a:ext cx="214884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Git</a:t>
            </a:r>
            <a:endParaRPr lang="en-US" sz="1600" dirty="0"/>
          </a:p>
        </p:txBody>
      </p:sp>
      <p:sp>
        <p:nvSpPr>
          <p:cNvPr id="27" name="Text 24"/>
          <p:cNvSpPr txBox="1"/>
          <p:nvPr/>
        </p:nvSpPr>
        <p:spPr>
          <a:xfrm>
            <a:off x="9235440" y="4389120"/>
            <a:ext cx="2148840" cy="411480"/>
          </a:xfrm>
          <a:prstGeom prst="rect">
            <a:avLst/>
          </a:prstGeom>
          <a:noFill/>
          <a:ln/>
        </p:spPr>
        <p:txBody>
          <a:bodyPr wrap="square" rtlCol="0" anchor="ctr"/>
          <a:lstStyle/>
          <a:p>
            <a:pPr algn="ctr" indent="0" marL="0">
              <a:buNone/>
            </a:pPr>
            <a:r>
              <a:rPr lang="en-US" sz="1200" dirty="0">
                <a:solidFill>
                  <a:srgbClr val="828C9E"/>
                </a:solidFill>
                <a:latin typeface="Calibri" pitchFamily="34" charset="0"/>
                <a:ea typeface="Calibri" pitchFamily="34" charset="-122"/>
                <a:cs typeface="Calibri" pitchFamily="34" charset="-120"/>
              </a:rPr>
              <a:t>Versionnement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2468880"/>
            <a:ext cx="1054577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Deux fonctionnalités en détail</a:t>
            </a:r>
            <a:endParaRPr lang="en-US" sz="4400" dirty="0"/>
          </a:p>
        </p:txBody>
      </p:sp>
      <p:sp>
        <p:nvSpPr>
          <p:cNvPr id="4" name="Text 1"/>
          <p:cNvSpPr txBox="1"/>
          <p:nvPr/>
        </p:nvSpPr>
        <p:spPr>
          <a:xfrm>
            <a:off x="822960" y="3429000"/>
            <a:ext cx="10545775" cy="457200"/>
          </a:xfrm>
          <a:prstGeom prst="rect">
            <a:avLst/>
          </a:prstGeom>
          <a:noFill/>
          <a:ln/>
        </p:spPr>
        <p:txBody>
          <a:bodyPr wrap="square" rtlCol="0" anchor="ctr"/>
          <a:lstStyle/>
          <a:p>
            <a:pPr algn="ctr" indent="0" marL="0">
              <a:buNone/>
            </a:pPr>
            <a:r>
              <a:rPr lang="en-US" sz="1800" dirty="0">
                <a:solidFill>
                  <a:srgbClr val="B4A7D6"/>
                </a:solidFill>
                <a:latin typeface="Calibri" pitchFamily="34" charset="0"/>
                <a:ea typeface="Calibri" pitchFamily="34" charset="-122"/>
                <a:cs typeface="Calibri" pitchFamily="34" charset="-120"/>
              </a:rPr>
              <a:t>Les rappels de médicament &amp; le journal des symptômes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FONCTIONNALITÉ 1 — LES RAPPELS DE MÉDICAMENT</a:t>
            </a:r>
            <a:endParaRPr lang="en-US" sz="1300" dirty="0"/>
          </a:p>
        </p:txBody>
      </p:sp>
      <p:sp>
        <p:nvSpPr>
          <p:cNvPr id="4" name="Text 1"/>
          <p:cNvSpPr txBox="1"/>
          <p:nvPr/>
        </p:nvSpPr>
        <p:spPr>
          <a:xfrm>
            <a:off x="822960" y="1554480"/>
            <a:ext cx="4937760" cy="384048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Une commande console Symfony lit les prises non effectuées</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Elle retrouve le médicament et le patient</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Elle envoie un email de rappel via Symfony Mailer (Mailtrap)</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Lancée manuellement pour démontrer ; automatisation prévue</a:t>
            </a:r>
            <a:endParaRPr lang="en-US" sz="1600" dirty="0"/>
          </a:p>
        </p:txBody>
      </p:sp>
      <p:sp>
        <p:nvSpPr>
          <p:cNvPr id="5" name="Shape 2"/>
          <p:cNvSpPr/>
          <p:nvPr/>
        </p:nvSpPr>
        <p:spPr>
          <a:xfrm>
            <a:off x="5943600" y="1914315"/>
            <a:ext cx="5669280" cy="3486570"/>
          </a:xfrm>
          <a:prstGeom prst="roundRect">
            <a:avLst>
              <a:gd name="adj" fmla="val 2098"/>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mermaid/1-seq-rappel.png">    </p:cNvPr>
          <p:cNvPicPr>
            <a:picLocks noChangeAspect="1"/>
          </p:cNvPicPr>
          <p:nvPr/>
        </p:nvPicPr>
        <p:blipFill>
          <a:blip r:embed="rId1"/>
          <a:stretch>
            <a:fillRect/>
          </a:stretch>
        </p:blipFill>
        <p:spPr>
          <a:xfrm>
            <a:off x="6053328" y="2024043"/>
            <a:ext cx="5449824" cy="326711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RAPPELS — DIAGRAMME D’ACTIVITÉ (LA LOGIQUE)</a:t>
            </a:r>
            <a:endParaRPr lang="en-US" sz="1300" dirty="0"/>
          </a:p>
        </p:txBody>
      </p:sp>
      <p:sp>
        <p:nvSpPr>
          <p:cNvPr id="4" name="Shape 1"/>
          <p:cNvSpPr/>
          <p:nvPr/>
        </p:nvSpPr>
        <p:spPr>
          <a:xfrm>
            <a:off x="4570746" y="1234440"/>
            <a:ext cx="3020028" cy="4663440"/>
          </a:xfrm>
          <a:prstGeom prst="roundRect">
            <a:avLst>
              <a:gd name="adj" fmla="val 2422"/>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ermaid/2-activite-rappel.png">    </p:cNvPr>
          <p:cNvPicPr>
            <a:picLocks noChangeAspect="1"/>
          </p:cNvPicPr>
          <p:nvPr/>
        </p:nvPicPr>
        <p:blipFill>
          <a:blip r:embed="rId1"/>
          <a:stretch>
            <a:fillRect/>
          </a:stretch>
        </p:blipFill>
        <p:spPr>
          <a:xfrm>
            <a:off x="4680474" y="1344168"/>
            <a:ext cx="2800572" cy="444398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FONCTIONNALITÉ 2 — LE JOURNAL &amp; LE GRAPHIQUE</a:t>
            </a:r>
            <a:endParaRPr lang="en-US" sz="1300" dirty="0"/>
          </a:p>
        </p:txBody>
      </p:sp>
      <p:sp>
        <p:nvSpPr>
          <p:cNvPr id="4" name="Text 1"/>
          <p:cNvSpPr txBox="1"/>
          <p:nvPr/>
        </p:nvSpPr>
        <p:spPr>
          <a:xfrm>
            <a:off x="822960" y="1554480"/>
            <a:ext cx="4937760" cy="3840480"/>
          </a:xfrm>
          <a:prstGeom prst="rect">
            <a:avLst/>
          </a:prstGeom>
          <a:noFill/>
          <a:ln/>
        </p:spPr>
        <p:txBody>
          <a:bodyPr wrap="square" rtlCol="0" anchor="t"/>
          <a:lstStyle/>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Le patient note son symptôme, l’intensité (1-10) et une remarque</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Le serveur fournit les données, injectées par Twig</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Chart.js dessine la courbe côté navigateur</a:t>
            </a:r>
            <a:endParaRPr lang="en-US" sz="1600" dirty="0"/>
          </a:p>
          <a:p>
            <a:pPr marL="177800" indent="-177800">
              <a:spcAft>
                <a:spcPts val="1600"/>
              </a:spcAft>
              <a:buSzPct val="100000"/>
              <a:buChar char="•"/>
            </a:pPr>
            <a:r>
              <a:rPr lang="en-US" sz="1600" dirty="0">
                <a:solidFill>
                  <a:srgbClr val="C2C9D4"/>
                </a:solidFill>
                <a:latin typeface="Calibri" pitchFamily="34" charset="0"/>
                <a:ea typeface="Calibri" pitchFamily="34" charset="-122"/>
                <a:cs typeface="Calibri" pitchFamily="34" charset="-120"/>
              </a:rPr>
              <a:t>Objectif : aider le dialogue avec l’équipe soignante</a:t>
            </a:r>
            <a:endParaRPr lang="en-US" sz="1600" dirty="0"/>
          </a:p>
        </p:txBody>
      </p:sp>
      <p:sp>
        <p:nvSpPr>
          <p:cNvPr id="5" name="Shape 2"/>
          <p:cNvSpPr/>
          <p:nvPr/>
        </p:nvSpPr>
        <p:spPr>
          <a:xfrm>
            <a:off x="6400852" y="1325880"/>
            <a:ext cx="4754776" cy="4663440"/>
          </a:xfrm>
          <a:prstGeom prst="roundRect">
            <a:avLst>
              <a:gd name="adj" fmla="val 1569"/>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shots/06-journal.png">    </p:cNvPr>
          <p:cNvPicPr>
            <a:picLocks noChangeAspect="1"/>
          </p:cNvPicPr>
          <p:nvPr/>
        </p:nvPicPr>
        <p:blipFill>
          <a:blip r:embed="rId1"/>
          <a:stretch>
            <a:fillRect/>
          </a:stretch>
        </p:blipFill>
        <p:spPr>
          <a:xfrm>
            <a:off x="6510580" y="1435608"/>
            <a:ext cx="4535320" cy="444398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JOURNAL — DIAGRAMME DE SÉQUENCE (LA CONCEPTION)</a:t>
            </a:r>
            <a:endParaRPr lang="en-US" sz="1300" dirty="0"/>
          </a:p>
        </p:txBody>
      </p:sp>
      <p:sp>
        <p:nvSpPr>
          <p:cNvPr id="4" name="Shape 1"/>
          <p:cNvSpPr/>
          <p:nvPr/>
        </p:nvSpPr>
        <p:spPr>
          <a:xfrm>
            <a:off x="2377440" y="2085000"/>
            <a:ext cx="7406640" cy="2962320"/>
          </a:xfrm>
          <a:prstGeom prst="roundRect">
            <a:avLst>
              <a:gd name="adj" fmla="val 2469"/>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ermaid/3-seq-journal.png">    </p:cNvPr>
          <p:cNvPicPr>
            <a:picLocks noChangeAspect="1"/>
          </p:cNvPicPr>
          <p:nvPr/>
        </p:nvPicPr>
        <p:blipFill>
          <a:blip r:embed="rId1"/>
          <a:stretch>
            <a:fillRect/>
          </a:stretch>
        </p:blipFill>
        <p:spPr>
          <a:xfrm>
            <a:off x="2487168" y="2194728"/>
            <a:ext cx="7187184" cy="27428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SÉCURITÉ &amp; DONNÉES DE SANTÉ</a:t>
            </a:r>
            <a:endParaRPr lang="en-US" sz="1300" dirty="0"/>
          </a:p>
        </p:txBody>
      </p:sp>
      <p:sp>
        <p:nvSpPr>
          <p:cNvPr id="4" name="Shape 1"/>
          <p:cNvSpPr/>
          <p:nvPr/>
        </p:nvSpPr>
        <p:spPr>
          <a:xfrm>
            <a:off x="1188720" y="1737360"/>
            <a:ext cx="4572000" cy="1691640"/>
          </a:xfrm>
          <a:prstGeom prst="roundRect">
            <a:avLst>
              <a:gd name="adj" fmla="val 4865"/>
            </a:avLst>
          </a:prstGeom>
          <a:solidFill>
            <a:srgbClr val="232C3D"/>
          </a:solidFill>
          <a:ln/>
        </p:spPr>
      </p:sp>
      <p:sp>
        <p:nvSpPr>
          <p:cNvPr id="5" name="Text 2"/>
          <p:cNvSpPr txBox="1"/>
          <p:nvPr/>
        </p:nvSpPr>
        <p:spPr>
          <a:xfrm>
            <a:off x="1508760" y="196596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Mots de passe hachés</a:t>
            </a:r>
            <a:endParaRPr lang="en-US" sz="1700" dirty="0"/>
          </a:p>
        </p:txBody>
      </p:sp>
      <p:sp>
        <p:nvSpPr>
          <p:cNvPr id="6" name="Text 3"/>
          <p:cNvSpPr txBox="1"/>
          <p:nvPr/>
        </p:nvSpPr>
        <p:spPr>
          <a:xfrm>
            <a:off x="1508760" y="251460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Composant Security de Symfony (bcrypt), irréversible</a:t>
            </a:r>
            <a:endParaRPr lang="en-US" sz="1350" dirty="0"/>
          </a:p>
        </p:txBody>
      </p:sp>
      <p:sp>
        <p:nvSpPr>
          <p:cNvPr id="7" name="Shape 4"/>
          <p:cNvSpPr/>
          <p:nvPr/>
        </p:nvSpPr>
        <p:spPr>
          <a:xfrm>
            <a:off x="6126480" y="1737360"/>
            <a:ext cx="4572000" cy="1691640"/>
          </a:xfrm>
          <a:prstGeom prst="roundRect">
            <a:avLst>
              <a:gd name="adj" fmla="val 4865"/>
            </a:avLst>
          </a:prstGeom>
          <a:solidFill>
            <a:srgbClr val="232C3D"/>
          </a:solidFill>
          <a:ln/>
        </p:spPr>
      </p:sp>
      <p:sp>
        <p:nvSpPr>
          <p:cNvPr id="8" name="Text 5"/>
          <p:cNvSpPr txBox="1"/>
          <p:nvPr/>
        </p:nvSpPr>
        <p:spPr>
          <a:xfrm>
            <a:off x="6446520" y="196596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Contrôle d’accès</a:t>
            </a:r>
            <a:endParaRPr lang="en-US" sz="1700" dirty="0"/>
          </a:p>
        </p:txBody>
      </p:sp>
      <p:sp>
        <p:nvSpPr>
          <p:cNvPr id="9" name="Text 6"/>
          <p:cNvSpPr txBox="1"/>
          <p:nvPr/>
        </p:nvSpPr>
        <p:spPr>
          <a:xfrm>
            <a:off x="6446520" y="251460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Chaque patient n’accède qu’à ses propres données</a:t>
            </a:r>
            <a:endParaRPr lang="en-US" sz="1350" dirty="0"/>
          </a:p>
        </p:txBody>
      </p:sp>
      <p:sp>
        <p:nvSpPr>
          <p:cNvPr id="10" name="Shape 7"/>
          <p:cNvSpPr/>
          <p:nvPr/>
        </p:nvSpPr>
        <p:spPr>
          <a:xfrm>
            <a:off x="1188720" y="3703320"/>
            <a:ext cx="4572000" cy="1691640"/>
          </a:xfrm>
          <a:prstGeom prst="roundRect">
            <a:avLst>
              <a:gd name="adj" fmla="val 4865"/>
            </a:avLst>
          </a:prstGeom>
          <a:solidFill>
            <a:srgbClr val="232C3D"/>
          </a:solidFill>
          <a:ln/>
        </p:spPr>
      </p:sp>
      <p:sp>
        <p:nvSpPr>
          <p:cNvPr id="11" name="Text 8"/>
          <p:cNvSpPr txBox="1"/>
          <p:nvPr/>
        </p:nvSpPr>
        <p:spPr>
          <a:xfrm>
            <a:off x="1508760" y="393192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Protection CSRF</a:t>
            </a:r>
            <a:endParaRPr lang="en-US" sz="1700" dirty="0"/>
          </a:p>
        </p:txBody>
      </p:sp>
      <p:sp>
        <p:nvSpPr>
          <p:cNvPr id="12" name="Text 9"/>
          <p:cNvSpPr txBox="1"/>
          <p:nvPr/>
        </p:nvSpPr>
        <p:spPr>
          <a:xfrm>
            <a:off x="1508760" y="448056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Jeton sur chaque formulaire</a:t>
            </a:r>
            <a:endParaRPr lang="en-US" sz="1350" dirty="0"/>
          </a:p>
        </p:txBody>
      </p:sp>
      <p:sp>
        <p:nvSpPr>
          <p:cNvPr id="13" name="Shape 10"/>
          <p:cNvSpPr/>
          <p:nvPr/>
        </p:nvSpPr>
        <p:spPr>
          <a:xfrm>
            <a:off x="6126480" y="3703320"/>
            <a:ext cx="4572000" cy="1691640"/>
          </a:xfrm>
          <a:prstGeom prst="roundRect">
            <a:avLst>
              <a:gd name="adj" fmla="val 4865"/>
            </a:avLst>
          </a:prstGeom>
          <a:solidFill>
            <a:srgbClr val="232C3D"/>
          </a:solidFill>
          <a:ln/>
        </p:spPr>
      </p:sp>
      <p:sp>
        <p:nvSpPr>
          <p:cNvPr id="14" name="Text 11"/>
          <p:cNvSpPr txBox="1"/>
          <p:nvPr/>
        </p:nvSpPr>
        <p:spPr>
          <a:xfrm>
            <a:off x="6446520" y="3931920"/>
            <a:ext cx="402336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RGPD</a:t>
            </a:r>
            <a:endParaRPr lang="en-US" sz="1700" dirty="0"/>
          </a:p>
        </p:txBody>
      </p:sp>
      <p:sp>
        <p:nvSpPr>
          <p:cNvPr id="15" name="Text 12"/>
          <p:cNvSpPr txBox="1"/>
          <p:nvPr/>
        </p:nvSpPr>
        <p:spPr>
          <a:xfrm>
            <a:off x="6446520" y="4480560"/>
            <a:ext cx="4023360" cy="777240"/>
          </a:xfrm>
          <a:prstGeom prst="rect">
            <a:avLst/>
          </a:prstGeom>
          <a:noFill/>
          <a:ln/>
        </p:spPr>
        <p:txBody>
          <a:bodyPr wrap="square" rtlCol="0" anchor="ctr"/>
          <a:lstStyle/>
          <a:p>
            <a:pPr indent="0" marL="0">
              <a:buNone/>
            </a:pPr>
            <a:r>
              <a:rPr lang="en-US" sz="1350" dirty="0">
                <a:solidFill>
                  <a:srgbClr val="C2C9D4"/>
                </a:solidFill>
                <a:latin typeface="Calibri" pitchFamily="34" charset="0"/>
                <a:ea typeface="Calibri" pitchFamily="34" charset="-122"/>
                <a:cs typeface="Calibri" pitchFamily="34" charset="-120"/>
              </a:rPr>
              <a:t>Minimisation des données, HTTPS en production</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TESTS &amp; QUALITÉ</a:t>
            </a:r>
            <a:endParaRPr lang="en-US" sz="1300" dirty="0"/>
          </a:p>
        </p:txBody>
      </p:sp>
      <p:sp>
        <p:nvSpPr>
          <p:cNvPr id="4" name="Text 1"/>
          <p:cNvSpPr txBox="1"/>
          <p:nvPr/>
        </p:nvSpPr>
        <p:spPr>
          <a:xfrm>
            <a:off x="822960" y="1280160"/>
            <a:ext cx="10515600" cy="548640"/>
          </a:xfrm>
          <a:prstGeom prst="rect">
            <a:avLst/>
          </a:prstGeom>
          <a:noFill/>
          <a:ln/>
        </p:spPr>
        <p:txBody>
          <a:bodyPr wrap="square" rtlCol="0" anchor="ctr"/>
          <a:lstStyle/>
          <a:p>
            <a:pPr algn="ctr" indent="0" marL="0">
              <a:buNone/>
            </a:pPr>
            <a:r>
              <a:rPr lang="en-US" sz="2200" b="1" dirty="0">
                <a:solidFill>
                  <a:srgbClr val="84B497"/>
                </a:solidFill>
                <a:latin typeface="Arial" pitchFamily="34" charset="0"/>
                <a:ea typeface="Arial" pitchFamily="34" charset="-122"/>
                <a:cs typeface="Arial" pitchFamily="34" charset="-120"/>
              </a:rPr>
              <a:t>OK — 7 tests, 8 assertions</a:t>
            </a:r>
            <a:endParaRPr lang="en-US" sz="2200" dirty="0"/>
          </a:p>
        </p:txBody>
      </p:sp>
      <p:sp>
        <p:nvSpPr>
          <p:cNvPr id="5" name="Shape 2"/>
          <p:cNvSpPr/>
          <p:nvPr/>
        </p:nvSpPr>
        <p:spPr>
          <a:xfrm>
            <a:off x="2377440" y="2212337"/>
            <a:ext cx="7406640" cy="1976125"/>
          </a:xfrm>
          <a:prstGeom prst="roundRect">
            <a:avLst>
              <a:gd name="adj" fmla="val 3702"/>
            </a:avLst>
          </a:prstGeom>
          <a:solidFill>
            <a:srgbClr val="FFFFFF"/>
          </a:solidFill>
          <a:ln/>
          <a:effectLst>
            <a:outerShdw sx="100000" sy="100000" kx="0" ky="0" algn="bl" rotWithShape="0" blurRad="127000" dist="38100" dir="5400000">
              <a:srgbClr val="000000">
                <a:alpha val="35000"/>
              </a:srgbClr>
            </a:outerShdw>
          </a:effectLst>
        </p:spPr>
      </p:sp>
      <p:pic>
        <p:nvPicPr>
          <p:cNvPr id="6" name="Image 0" descr="/home/claude/parcours-sante-livrables/tests-resultat.png">    </p:cNvPr>
          <p:cNvPicPr>
            <a:picLocks noChangeAspect="1"/>
          </p:cNvPicPr>
          <p:nvPr/>
        </p:nvPicPr>
        <p:blipFill>
          <a:blip r:embed="rId1"/>
          <a:stretch>
            <a:fillRect/>
          </a:stretch>
        </p:blipFill>
        <p:spPr>
          <a:xfrm>
            <a:off x="2487168" y="2322065"/>
            <a:ext cx="7187184" cy="1756669"/>
          </a:xfrm>
          <a:prstGeom prst="rect">
            <a:avLst/>
          </a:prstGeom>
        </p:spPr>
      </p:pic>
      <p:sp>
        <p:nvSpPr>
          <p:cNvPr id="7" name="Text 3"/>
          <p:cNvSpPr txBox="1"/>
          <p:nvPr/>
        </p:nvSpPr>
        <p:spPr>
          <a:xfrm>
            <a:off x="2377440" y="4754880"/>
            <a:ext cx="7406640" cy="1005840"/>
          </a:xfrm>
          <a:prstGeom prst="rect">
            <a:avLst/>
          </a:prstGeom>
          <a:noFill/>
          <a:ln/>
        </p:spPr>
        <p:txBody>
          <a:bodyPr wrap="square" rtlCol="0" anchor="t"/>
          <a:lstStyle/>
          <a:p>
            <a:pPr marL="177800" indent="-177800">
              <a:spcAft>
                <a:spcPts val="800"/>
              </a:spcAft>
              <a:buSzPct val="100000"/>
              <a:buChar char="•"/>
            </a:pPr>
            <a:r>
              <a:rPr lang="en-US" sz="1400" dirty="0">
                <a:solidFill>
                  <a:srgbClr val="C2C9D4"/>
                </a:solidFill>
                <a:latin typeface="Calibri" pitchFamily="34" charset="0"/>
                <a:ea typeface="Calibri" pitchFamily="34" charset="-122"/>
                <a:cs typeface="Calibri" pitchFamily="34" charset="-120"/>
              </a:rPr>
              <a:t>Tests unitaires PHPUnit sur la logique métier (isActif d’un médicament)</a:t>
            </a:r>
            <a:endParaRPr lang="en-US" sz="1400" dirty="0"/>
          </a:p>
          <a:p>
            <a:pPr marL="177800" indent="-177800">
              <a:spcAft>
                <a:spcPts val="800"/>
              </a:spcAft>
              <a:buSzPct val="100000"/>
              <a:buChar char="•"/>
            </a:pPr>
            <a:r>
              <a:rPr lang="en-US" sz="1400" dirty="0">
                <a:solidFill>
                  <a:srgbClr val="C2C9D4"/>
                </a:solidFill>
                <a:latin typeface="Calibri" pitchFamily="34" charset="0"/>
                <a:ea typeface="Calibri" pitchFamily="34" charset="-122"/>
                <a:cs typeface="Calibri" pitchFamily="34" charset="-120"/>
              </a:rPr>
              <a:t>Tests fonctionnels : axe d’amélioration identifié</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DÉPLOIEMENT</a:t>
            </a:r>
            <a:endParaRPr lang="en-US" sz="1300" dirty="0"/>
          </a:p>
        </p:txBody>
      </p:sp>
      <p:sp>
        <p:nvSpPr>
          <p:cNvPr id="4" name="Shape 1"/>
          <p:cNvSpPr/>
          <p:nvPr/>
        </p:nvSpPr>
        <p:spPr>
          <a:xfrm>
            <a:off x="3108960" y="1849775"/>
            <a:ext cx="5943600" cy="1878290"/>
          </a:xfrm>
          <a:prstGeom prst="roundRect">
            <a:avLst>
              <a:gd name="adj" fmla="val 3895"/>
            </a:avLst>
          </a:prstGeom>
          <a:solidFill>
            <a:srgbClr val="FFFFFF"/>
          </a:solidFill>
          <a:ln/>
          <a:effectLst>
            <a:outerShdw sx="100000" sy="100000" kx="0" ky="0" algn="bl" rotWithShape="0" blurRad="127000" dist="38100" dir="5400000">
              <a:srgbClr val="000000">
                <a:alpha val="35000"/>
              </a:srgbClr>
            </a:outerShdw>
          </a:effectLst>
        </p:spPr>
      </p:sp>
      <p:pic>
        <p:nvPicPr>
          <p:cNvPr id="5" name="Image 0" descr="/home/claude/parcours-sante-livrables/mermaid/5-deploiement.png">    </p:cNvPr>
          <p:cNvPicPr>
            <a:picLocks noChangeAspect="1"/>
          </p:cNvPicPr>
          <p:nvPr/>
        </p:nvPicPr>
        <p:blipFill>
          <a:blip r:embed="rId1"/>
          <a:stretch>
            <a:fillRect/>
          </a:stretch>
        </p:blipFill>
        <p:spPr>
          <a:xfrm>
            <a:off x="3218688" y="1959503"/>
            <a:ext cx="5724144" cy="1658834"/>
          </a:xfrm>
          <a:prstGeom prst="rect">
            <a:avLst/>
          </a:prstGeom>
        </p:spPr>
      </p:pic>
      <p:sp>
        <p:nvSpPr>
          <p:cNvPr id="6" name="Text 2"/>
          <p:cNvSpPr txBox="1"/>
          <p:nvPr/>
        </p:nvSpPr>
        <p:spPr>
          <a:xfrm>
            <a:off x="1371600" y="4663440"/>
            <a:ext cx="9418320" cy="1737360"/>
          </a:xfrm>
          <a:prstGeom prst="rect">
            <a:avLst/>
          </a:prstGeom>
          <a:noFill/>
          <a:ln/>
        </p:spPr>
        <p:txBody>
          <a:bodyPr wrap="square" rtlCol="0" anchor="t"/>
          <a:lstStyle/>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Aujourd’hui : environnement local WAMP, code versionné avec Git</a:t>
            </a:r>
            <a:endParaRPr lang="en-US" sz="1450" dirty="0"/>
          </a:p>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Mise en production : procédure reproductible + migrations Doctrine + HTTPS</a:t>
            </a:r>
            <a:endParaRPr lang="en-US" sz="1450" dirty="0"/>
          </a:p>
          <a:p>
            <a:pPr marL="177800" indent="-177800">
              <a:spcAft>
                <a:spcPts val="900"/>
              </a:spcAft>
              <a:buSzPct val="100000"/>
              <a:buChar char="•"/>
            </a:pPr>
            <a:r>
              <a:rPr lang="en-US" sz="1450" dirty="0">
                <a:solidFill>
                  <a:srgbClr val="C2C9D4"/>
                </a:solidFill>
                <a:latin typeface="Calibri" pitchFamily="34" charset="0"/>
                <a:ea typeface="Calibri" pitchFamily="34" charset="-122"/>
                <a:cs typeface="Calibri" pitchFamily="34" charset="-120"/>
              </a:rPr>
              <a:t>Perspectives : conteneurisation Docker et intégration continue (CI/CD)</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STRATÉGIE DE DÉPLOIEMENT CONTINU (CI/CD) — PERSPECTIVE</a:t>
            </a:r>
            <a:endParaRPr lang="en-US" sz="1300" dirty="0"/>
          </a:p>
        </p:txBody>
      </p:sp>
      <p:sp>
        <p:nvSpPr>
          <p:cNvPr id="4" name="Shape 1"/>
          <p:cNvSpPr/>
          <p:nvPr/>
        </p:nvSpPr>
        <p:spPr>
          <a:xfrm>
            <a:off x="685800" y="2377440"/>
            <a:ext cx="2057400" cy="2286000"/>
          </a:xfrm>
          <a:prstGeom prst="roundRect">
            <a:avLst>
              <a:gd name="adj" fmla="val 4000"/>
            </a:avLst>
          </a:prstGeom>
          <a:solidFill>
            <a:srgbClr val="232C3D"/>
          </a:solidFill>
          <a:ln/>
        </p:spPr>
      </p:sp>
      <p:sp>
        <p:nvSpPr>
          <p:cNvPr id="5" name="Shape 2"/>
          <p:cNvSpPr/>
          <p:nvPr/>
        </p:nvSpPr>
        <p:spPr>
          <a:xfrm>
            <a:off x="1463040" y="2633472"/>
            <a:ext cx="502920" cy="502920"/>
          </a:xfrm>
          <a:prstGeom prst="ellipse">
            <a:avLst/>
          </a:prstGeom>
          <a:solidFill>
            <a:srgbClr val="84B497"/>
          </a:solidFill>
          <a:ln/>
        </p:spPr>
      </p:sp>
      <p:sp>
        <p:nvSpPr>
          <p:cNvPr id="6" name="Text 3"/>
          <p:cNvSpPr txBox="1"/>
          <p:nvPr/>
        </p:nvSpPr>
        <p:spPr>
          <a:xfrm>
            <a:off x="146304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1</a:t>
            </a:r>
            <a:endParaRPr lang="en-US" sz="1800" dirty="0"/>
          </a:p>
        </p:txBody>
      </p:sp>
      <p:sp>
        <p:nvSpPr>
          <p:cNvPr id="7" name="Text 4"/>
          <p:cNvSpPr txBox="1"/>
          <p:nvPr/>
        </p:nvSpPr>
        <p:spPr>
          <a:xfrm>
            <a:off x="82296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Push sur main</a:t>
            </a:r>
            <a:endParaRPr lang="en-US" sz="1300" dirty="0"/>
          </a:p>
        </p:txBody>
      </p:sp>
      <p:sp>
        <p:nvSpPr>
          <p:cNvPr id="8" name="Text 5"/>
          <p:cNvSpPr txBox="1"/>
          <p:nvPr/>
        </p:nvSpPr>
        <p:spPr>
          <a:xfrm>
            <a:off x="82296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Le code est envoyé sur la branche principale (Git)</a:t>
            </a:r>
            <a:endParaRPr lang="en-US" sz="1050" dirty="0"/>
          </a:p>
        </p:txBody>
      </p:sp>
      <p:sp>
        <p:nvSpPr>
          <p:cNvPr id="9" name="Text 6"/>
          <p:cNvSpPr txBox="1"/>
          <p:nvPr/>
        </p:nvSpPr>
        <p:spPr>
          <a:xfrm>
            <a:off x="2679192" y="3200400"/>
            <a:ext cx="320040" cy="548640"/>
          </a:xfrm>
          <a:prstGeom prst="rect">
            <a:avLst/>
          </a:prstGeom>
          <a:noFill/>
          <a:ln/>
        </p:spPr>
        <p:txBody>
          <a:bodyPr wrap="square" rtlCol="0" anchor="ctr"/>
          <a:lstStyle/>
          <a:p>
            <a:pPr algn="ctr" indent="0" marL="0">
              <a:buNone/>
            </a:pPr>
            <a:r>
              <a:rPr lang="en-US" sz="2200" b="1" dirty="0">
                <a:solidFill>
                  <a:srgbClr val="B4A7D6"/>
                </a:solidFill>
                <a:latin typeface="Arial" pitchFamily="34" charset="0"/>
                <a:ea typeface="Arial" pitchFamily="34" charset="-122"/>
                <a:cs typeface="Arial" pitchFamily="34" charset="-120"/>
              </a:rPr>
              <a:t>→</a:t>
            </a:r>
            <a:endParaRPr lang="en-US" sz="2200" dirty="0"/>
          </a:p>
        </p:txBody>
      </p:sp>
      <p:sp>
        <p:nvSpPr>
          <p:cNvPr id="10" name="Shape 7"/>
          <p:cNvSpPr/>
          <p:nvPr/>
        </p:nvSpPr>
        <p:spPr>
          <a:xfrm>
            <a:off x="2926080" y="2377440"/>
            <a:ext cx="2057400" cy="2286000"/>
          </a:xfrm>
          <a:prstGeom prst="roundRect">
            <a:avLst>
              <a:gd name="adj" fmla="val 4000"/>
            </a:avLst>
          </a:prstGeom>
          <a:solidFill>
            <a:srgbClr val="232C3D"/>
          </a:solidFill>
          <a:ln/>
        </p:spPr>
      </p:sp>
      <p:sp>
        <p:nvSpPr>
          <p:cNvPr id="11" name="Shape 8"/>
          <p:cNvSpPr/>
          <p:nvPr/>
        </p:nvSpPr>
        <p:spPr>
          <a:xfrm>
            <a:off x="3703320" y="2633472"/>
            <a:ext cx="502920" cy="502920"/>
          </a:xfrm>
          <a:prstGeom prst="ellipse">
            <a:avLst/>
          </a:prstGeom>
          <a:solidFill>
            <a:srgbClr val="84B497"/>
          </a:solidFill>
          <a:ln/>
        </p:spPr>
      </p:sp>
      <p:sp>
        <p:nvSpPr>
          <p:cNvPr id="12" name="Text 9"/>
          <p:cNvSpPr txBox="1"/>
          <p:nvPr/>
        </p:nvSpPr>
        <p:spPr>
          <a:xfrm>
            <a:off x="370332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2</a:t>
            </a:r>
            <a:endParaRPr lang="en-US" sz="1800" dirty="0"/>
          </a:p>
        </p:txBody>
      </p:sp>
      <p:sp>
        <p:nvSpPr>
          <p:cNvPr id="13" name="Text 10"/>
          <p:cNvSpPr txBox="1"/>
          <p:nvPr/>
        </p:nvSpPr>
        <p:spPr>
          <a:xfrm>
            <a:off x="306324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Tests automatisés</a:t>
            </a:r>
            <a:endParaRPr lang="en-US" sz="1300" dirty="0"/>
          </a:p>
        </p:txBody>
      </p:sp>
      <p:sp>
        <p:nvSpPr>
          <p:cNvPr id="14" name="Text 11"/>
          <p:cNvSpPr txBox="1"/>
          <p:nvPr/>
        </p:nvSpPr>
        <p:spPr>
          <a:xfrm>
            <a:off x="306324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La chaîne CI lance les tests avant tout déploiement</a:t>
            </a:r>
            <a:endParaRPr lang="en-US" sz="1050" dirty="0"/>
          </a:p>
        </p:txBody>
      </p:sp>
      <p:sp>
        <p:nvSpPr>
          <p:cNvPr id="15" name="Text 12"/>
          <p:cNvSpPr txBox="1"/>
          <p:nvPr/>
        </p:nvSpPr>
        <p:spPr>
          <a:xfrm>
            <a:off x="4919472" y="3200400"/>
            <a:ext cx="320040" cy="548640"/>
          </a:xfrm>
          <a:prstGeom prst="rect">
            <a:avLst/>
          </a:prstGeom>
          <a:noFill/>
          <a:ln/>
        </p:spPr>
        <p:txBody>
          <a:bodyPr wrap="square" rtlCol="0" anchor="ctr"/>
          <a:lstStyle/>
          <a:p>
            <a:pPr algn="ctr" indent="0" marL="0">
              <a:buNone/>
            </a:pPr>
            <a:r>
              <a:rPr lang="en-US" sz="2200" b="1" dirty="0">
                <a:solidFill>
                  <a:srgbClr val="B4A7D6"/>
                </a:solidFill>
                <a:latin typeface="Arial" pitchFamily="34" charset="0"/>
                <a:ea typeface="Arial" pitchFamily="34" charset="-122"/>
                <a:cs typeface="Arial" pitchFamily="34" charset="-120"/>
              </a:rPr>
              <a:t>→</a:t>
            </a:r>
            <a:endParaRPr lang="en-US" sz="2200" dirty="0"/>
          </a:p>
        </p:txBody>
      </p:sp>
      <p:sp>
        <p:nvSpPr>
          <p:cNvPr id="16" name="Shape 13"/>
          <p:cNvSpPr/>
          <p:nvPr/>
        </p:nvSpPr>
        <p:spPr>
          <a:xfrm>
            <a:off x="5166360" y="2377440"/>
            <a:ext cx="2057400" cy="2286000"/>
          </a:xfrm>
          <a:prstGeom prst="roundRect">
            <a:avLst>
              <a:gd name="adj" fmla="val 4000"/>
            </a:avLst>
          </a:prstGeom>
          <a:solidFill>
            <a:srgbClr val="232C3D"/>
          </a:solidFill>
          <a:ln/>
        </p:spPr>
      </p:sp>
      <p:sp>
        <p:nvSpPr>
          <p:cNvPr id="17" name="Shape 14"/>
          <p:cNvSpPr/>
          <p:nvPr/>
        </p:nvSpPr>
        <p:spPr>
          <a:xfrm>
            <a:off x="5943600" y="2633472"/>
            <a:ext cx="502920" cy="502920"/>
          </a:xfrm>
          <a:prstGeom prst="ellipse">
            <a:avLst/>
          </a:prstGeom>
          <a:solidFill>
            <a:srgbClr val="84B497"/>
          </a:solidFill>
          <a:ln/>
        </p:spPr>
      </p:sp>
      <p:sp>
        <p:nvSpPr>
          <p:cNvPr id="18" name="Text 15"/>
          <p:cNvSpPr txBox="1"/>
          <p:nvPr/>
        </p:nvSpPr>
        <p:spPr>
          <a:xfrm>
            <a:off x="594360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3</a:t>
            </a:r>
            <a:endParaRPr lang="en-US" sz="1800" dirty="0"/>
          </a:p>
        </p:txBody>
      </p:sp>
      <p:sp>
        <p:nvSpPr>
          <p:cNvPr id="19" name="Text 16"/>
          <p:cNvSpPr txBox="1"/>
          <p:nvPr/>
        </p:nvSpPr>
        <p:spPr>
          <a:xfrm>
            <a:off x="530352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Build image Docker</a:t>
            </a:r>
            <a:endParaRPr lang="en-US" sz="1300" dirty="0"/>
          </a:p>
        </p:txBody>
      </p:sp>
      <p:sp>
        <p:nvSpPr>
          <p:cNvPr id="20" name="Text 17"/>
          <p:cNvSpPr txBox="1"/>
          <p:nvPr/>
        </p:nvSpPr>
        <p:spPr>
          <a:xfrm>
            <a:off x="530352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L’application est empaquetée dans une image conteneur</a:t>
            </a:r>
            <a:endParaRPr lang="en-US" sz="1050" dirty="0"/>
          </a:p>
        </p:txBody>
      </p:sp>
      <p:sp>
        <p:nvSpPr>
          <p:cNvPr id="21" name="Text 18"/>
          <p:cNvSpPr txBox="1"/>
          <p:nvPr/>
        </p:nvSpPr>
        <p:spPr>
          <a:xfrm>
            <a:off x="7159752" y="3200400"/>
            <a:ext cx="320040" cy="548640"/>
          </a:xfrm>
          <a:prstGeom prst="rect">
            <a:avLst/>
          </a:prstGeom>
          <a:noFill/>
          <a:ln/>
        </p:spPr>
        <p:txBody>
          <a:bodyPr wrap="square" rtlCol="0" anchor="ctr"/>
          <a:lstStyle/>
          <a:p>
            <a:pPr algn="ctr" indent="0" marL="0">
              <a:buNone/>
            </a:pPr>
            <a:r>
              <a:rPr lang="en-US" sz="2200" b="1" dirty="0">
                <a:solidFill>
                  <a:srgbClr val="B4A7D6"/>
                </a:solidFill>
                <a:latin typeface="Arial" pitchFamily="34" charset="0"/>
                <a:ea typeface="Arial" pitchFamily="34" charset="-122"/>
                <a:cs typeface="Arial" pitchFamily="34" charset="-120"/>
              </a:rPr>
              <a:t>→</a:t>
            </a:r>
            <a:endParaRPr lang="en-US" sz="2200" dirty="0"/>
          </a:p>
        </p:txBody>
      </p:sp>
      <p:sp>
        <p:nvSpPr>
          <p:cNvPr id="22" name="Shape 19"/>
          <p:cNvSpPr/>
          <p:nvPr/>
        </p:nvSpPr>
        <p:spPr>
          <a:xfrm>
            <a:off x="7406640" y="2377440"/>
            <a:ext cx="2057400" cy="2286000"/>
          </a:xfrm>
          <a:prstGeom prst="roundRect">
            <a:avLst>
              <a:gd name="adj" fmla="val 4000"/>
            </a:avLst>
          </a:prstGeom>
          <a:solidFill>
            <a:srgbClr val="232C3D"/>
          </a:solidFill>
          <a:ln/>
        </p:spPr>
      </p:sp>
      <p:sp>
        <p:nvSpPr>
          <p:cNvPr id="23" name="Shape 20"/>
          <p:cNvSpPr/>
          <p:nvPr/>
        </p:nvSpPr>
        <p:spPr>
          <a:xfrm>
            <a:off x="8183880" y="2633472"/>
            <a:ext cx="502920" cy="502920"/>
          </a:xfrm>
          <a:prstGeom prst="ellipse">
            <a:avLst/>
          </a:prstGeom>
          <a:solidFill>
            <a:srgbClr val="84B497"/>
          </a:solidFill>
          <a:ln/>
        </p:spPr>
      </p:sp>
      <p:sp>
        <p:nvSpPr>
          <p:cNvPr id="24" name="Text 21"/>
          <p:cNvSpPr txBox="1"/>
          <p:nvPr/>
        </p:nvSpPr>
        <p:spPr>
          <a:xfrm>
            <a:off x="818388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4</a:t>
            </a:r>
            <a:endParaRPr lang="en-US" sz="1800" dirty="0"/>
          </a:p>
        </p:txBody>
      </p:sp>
      <p:sp>
        <p:nvSpPr>
          <p:cNvPr id="25" name="Text 22"/>
          <p:cNvSpPr txBox="1"/>
          <p:nvPr/>
        </p:nvSpPr>
        <p:spPr>
          <a:xfrm>
            <a:off x="754380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Connexion SSH au VPS</a:t>
            </a:r>
            <a:endParaRPr lang="en-US" sz="1300" dirty="0"/>
          </a:p>
        </p:txBody>
      </p:sp>
      <p:sp>
        <p:nvSpPr>
          <p:cNvPr id="26" name="Text 23"/>
          <p:cNvSpPr txBox="1"/>
          <p:nvPr/>
        </p:nvSpPr>
        <p:spPr>
          <a:xfrm>
            <a:off x="754380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Le serveur distant récupère la nouvelle image</a:t>
            </a:r>
            <a:endParaRPr lang="en-US" sz="1050" dirty="0"/>
          </a:p>
        </p:txBody>
      </p:sp>
      <p:sp>
        <p:nvSpPr>
          <p:cNvPr id="27" name="Text 24"/>
          <p:cNvSpPr txBox="1"/>
          <p:nvPr/>
        </p:nvSpPr>
        <p:spPr>
          <a:xfrm>
            <a:off x="9400032" y="3200400"/>
            <a:ext cx="320040" cy="548640"/>
          </a:xfrm>
          <a:prstGeom prst="rect">
            <a:avLst/>
          </a:prstGeom>
          <a:noFill/>
          <a:ln/>
        </p:spPr>
        <p:txBody>
          <a:bodyPr wrap="square" rtlCol="0" anchor="ctr"/>
          <a:lstStyle/>
          <a:p>
            <a:pPr algn="ctr" indent="0" marL="0">
              <a:buNone/>
            </a:pPr>
            <a:r>
              <a:rPr lang="en-US" sz="2200" b="1" dirty="0">
                <a:solidFill>
                  <a:srgbClr val="B4A7D6"/>
                </a:solidFill>
                <a:latin typeface="Arial" pitchFamily="34" charset="0"/>
                <a:ea typeface="Arial" pitchFamily="34" charset="-122"/>
                <a:cs typeface="Arial" pitchFamily="34" charset="-120"/>
              </a:rPr>
              <a:t>→</a:t>
            </a:r>
            <a:endParaRPr lang="en-US" sz="2200" dirty="0"/>
          </a:p>
        </p:txBody>
      </p:sp>
      <p:sp>
        <p:nvSpPr>
          <p:cNvPr id="28" name="Shape 25"/>
          <p:cNvSpPr/>
          <p:nvPr/>
        </p:nvSpPr>
        <p:spPr>
          <a:xfrm>
            <a:off x="9646920" y="2377440"/>
            <a:ext cx="2057400" cy="2286000"/>
          </a:xfrm>
          <a:prstGeom prst="roundRect">
            <a:avLst>
              <a:gd name="adj" fmla="val 4000"/>
            </a:avLst>
          </a:prstGeom>
          <a:solidFill>
            <a:srgbClr val="232C3D"/>
          </a:solidFill>
          <a:ln/>
        </p:spPr>
      </p:sp>
      <p:sp>
        <p:nvSpPr>
          <p:cNvPr id="29" name="Shape 26"/>
          <p:cNvSpPr/>
          <p:nvPr/>
        </p:nvSpPr>
        <p:spPr>
          <a:xfrm>
            <a:off x="10424160" y="2633472"/>
            <a:ext cx="502920" cy="502920"/>
          </a:xfrm>
          <a:prstGeom prst="ellipse">
            <a:avLst/>
          </a:prstGeom>
          <a:solidFill>
            <a:srgbClr val="84B497"/>
          </a:solidFill>
          <a:ln/>
        </p:spPr>
      </p:sp>
      <p:sp>
        <p:nvSpPr>
          <p:cNvPr id="30" name="Text 27"/>
          <p:cNvSpPr txBox="1"/>
          <p:nvPr/>
        </p:nvSpPr>
        <p:spPr>
          <a:xfrm>
            <a:off x="10424160" y="2670048"/>
            <a:ext cx="502920" cy="457200"/>
          </a:xfrm>
          <a:prstGeom prst="rect">
            <a:avLst/>
          </a:prstGeom>
          <a:noFill/>
          <a:ln/>
        </p:spPr>
        <p:txBody>
          <a:bodyPr wrap="square" rtlCol="0" anchor="ctr"/>
          <a:lstStyle/>
          <a:p>
            <a:pPr algn="ctr" indent="0" marL="0">
              <a:buNone/>
            </a:pPr>
            <a:r>
              <a:rPr lang="en-US" sz="1800" b="1" dirty="0">
                <a:solidFill>
                  <a:srgbClr val="1B2130"/>
                </a:solidFill>
                <a:latin typeface="Arial" pitchFamily="34" charset="0"/>
                <a:ea typeface="Arial" pitchFamily="34" charset="-122"/>
                <a:cs typeface="Arial" pitchFamily="34" charset="-120"/>
              </a:rPr>
              <a:t>5</a:t>
            </a:r>
            <a:endParaRPr lang="en-US" sz="1800" dirty="0"/>
          </a:p>
        </p:txBody>
      </p:sp>
      <p:sp>
        <p:nvSpPr>
          <p:cNvPr id="31" name="Text 28"/>
          <p:cNvSpPr txBox="1"/>
          <p:nvPr/>
        </p:nvSpPr>
        <p:spPr>
          <a:xfrm>
            <a:off x="9784080" y="3291840"/>
            <a:ext cx="1783080" cy="6400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Reconstruction du conteneur</a:t>
            </a:r>
            <a:endParaRPr lang="en-US" sz="1300" dirty="0"/>
          </a:p>
        </p:txBody>
      </p:sp>
      <p:sp>
        <p:nvSpPr>
          <p:cNvPr id="32" name="Text 29"/>
          <p:cNvSpPr txBox="1"/>
          <p:nvPr/>
        </p:nvSpPr>
        <p:spPr>
          <a:xfrm>
            <a:off x="9784080" y="3886200"/>
            <a:ext cx="1783080" cy="685800"/>
          </a:xfrm>
          <a:prstGeom prst="rect">
            <a:avLst/>
          </a:prstGeom>
          <a:noFill/>
          <a:ln/>
        </p:spPr>
        <p:txBody>
          <a:bodyPr wrap="square" rtlCol="0" anchor="ctr"/>
          <a:lstStyle/>
          <a:p>
            <a:pPr algn="ctr" indent="0" marL="0">
              <a:buNone/>
            </a:pPr>
            <a:r>
              <a:rPr lang="en-US" sz="1050" dirty="0">
                <a:solidFill>
                  <a:srgbClr val="C2C9D4"/>
                </a:solidFill>
                <a:latin typeface="Calibri" pitchFamily="34" charset="0"/>
                <a:ea typeface="Calibri" pitchFamily="34" charset="-122"/>
                <a:cs typeface="Calibri" pitchFamily="34" charset="-120"/>
              </a:rPr>
              <a:t>Le conteneur est relancé : nouvelle version en ligne</a:t>
            </a:r>
            <a:endParaRPr lang="en-US" sz="1050" dirty="0"/>
          </a:p>
        </p:txBody>
      </p:sp>
      <p:sp>
        <p:nvSpPr>
          <p:cNvPr id="33" name="Text 30"/>
          <p:cNvSpPr txBox="1"/>
          <p:nvPr/>
        </p:nvSpPr>
        <p:spPr>
          <a:xfrm>
            <a:off x="822960" y="5074920"/>
            <a:ext cx="10545775" cy="457200"/>
          </a:xfrm>
          <a:prstGeom prst="rect">
            <a:avLst/>
          </a:prstGeom>
          <a:noFill/>
          <a:ln/>
        </p:spPr>
        <p:txBody>
          <a:bodyPr wrap="square" rtlCol="0" anchor="ctr"/>
          <a:lstStyle/>
          <a:p>
            <a:pPr algn="ctr" indent="0" marL="0">
              <a:buNone/>
            </a:pPr>
            <a:r>
              <a:rPr lang="en-US" sz="1400" dirty="0">
                <a:solidFill>
                  <a:srgbClr val="828C9E"/>
                </a:solidFill>
                <a:latin typeface="Calibri" pitchFamily="34" charset="0"/>
                <a:ea typeface="Calibri" pitchFamily="34" charset="-122"/>
                <a:cs typeface="Calibri" pitchFamily="34" charset="-120"/>
              </a:rPr>
              <a:t>Objectif : un déploiement reproductible et automatisé, sans intervention manuelle sur le serveur.</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UN PROJET ANCRÉ DANS UNE INSTITUTION DE SOIN</a:t>
            </a:r>
            <a:endParaRPr lang="en-US" sz="1300" dirty="0"/>
          </a:p>
        </p:txBody>
      </p:sp>
      <p:sp>
        <p:nvSpPr>
          <p:cNvPr id="4" name="Text 1"/>
          <p:cNvSpPr txBox="1"/>
          <p:nvPr/>
        </p:nvSpPr>
        <p:spPr>
          <a:xfrm>
            <a:off x="1463040" y="2011680"/>
            <a:ext cx="9235440" cy="1828800"/>
          </a:xfrm>
          <a:prstGeom prst="rect">
            <a:avLst/>
          </a:prstGeom>
          <a:noFill/>
          <a:ln/>
        </p:spPr>
        <p:txBody>
          <a:bodyPr wrap="square" rtlCol="0" anchor="ctr"/>
          <a:lstStyle/>
          <a:p>
            <a:pPr algn="ctr" indent="0" marL="0">
              <a:buNone/>
            </a:pPr>
            <a:r>
              <a:rPr lang="en-US" sz="2200" i="1" dirty="0">
                <a:solidFill>
                  <a:srgbClr val="FFFFFF"/>
                </a:solidFill>
                <a:latin typeface="Calibri" pitchFamily="34" charset="0"/>
                <a:ea typeface="Calibri" pitchFamily="34" charset="-122"/>
                <a:cs typeface="Calibri" pitchFamily="34" charset="-120"/>
              </a:rPr>
              <a:t>« Présenté au service informatique du Centre Léon Bérard — où je suis soigné — le projet a suscité l’intérêt de l’équipe, qui envisage de le reprendre et de l’adapter. »</a:t>
            </a:r>
            <a:endParaRPr lang="en-US" sz="2200" dirty="0"/>
          </a:p>
        </p:txBody>
      </p:sp>
      <p:sp>
        <p:nvSpPr>
          <p:cNvPr id="5" name="Text 2"/>
          <p:cNvSpPr txBox="1"/>
          <p:nvPr/>
        </p:nvSpPr>
        <p:spPr>
          <a:xfrm>
            <a:off x="2011680" y="4297680"/>
            <a:ext cx="8138160" cy="548640"/>
          </a:xfrm>
          <a:prstGeom prst="rect">
            <a:avLst/>
          </a:prstGeom>
          <a:noFill/>
          <a:ln/>
        </p:spPr>
        <p:txBody>
          <a:bodyPr wrap="square" rtlCol="0" anchor="ctr"/>
          <a:lstStyle/>
          <a:p>
            <a:pPr algn="ctr" indent="0" marL="0">
              <a:buNone/>
            </a:pPr>
            <a:r>
              <a:rPr lang="en-US" sz="1500" dirty="0">
                <a:solidFill>
                  <a:srgbClr val="C2C9D4"/>
                </a:solidFill>
                <a:latin typeface="Calibri" pitchFamily="34" charset="0"/>
                <a:ea typeface="Calibri" pitchFamily="34" charset="-122"/>
                <a:cs typeface="Calibri" pitchFamily="34" charset="-120"/>
              </a:rPr>
              <a:t>Une collaboration bénévole, née de ma situation de patient.</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7315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Difficultés rencontrées</a:t>
            </a:r>
            <a:endParaRPr lang="en-US" sz="3200" dirty="0"/>
          </a:p>
        </p:txBody>
      </p:sp>
      <p:sp>
        <p:nvSpPr>
          <p:cNvPr id="4" name="Text 1"/>
          <p:cNvSpPr txBox="1"/>
          <p:nvPr/>
        </p:nvSpPr>
        <p:spPr>
          <a:xfrm>
            <a:off x="1645920" y="1920240"/>
            <a:ext cx="8869680" cy="3657600"/>
          </a:xfrm>
          <a:prstGeom prst="rect">
            <a:avLst/>
          </a:prstGeom>
          <a:noFill/>
          <a:ln/>
        </p:spPr>
        <p:txBody>
          <a:bodyPr wrap="square" rtlCol="0" anchor="t"/>
          <a:lstStyle/>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Mener le projet seul, en autonomie complète, en parallèle d’un traitement</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Modéliser proprement les données et faire évoluer la base sans casser l’existant</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Résoudre des problèmes techniques concrets et non anticipés (ex. cycle de vie de Turbo pour le graphique)</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Garder le cap sur les fonctionnalités qui apportent le plus de valeur</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731520"/>
            <a:ext cx="10545775" cy="91440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Ce que ce projet m’a apporté</a:t>
            </a:r>
            <a:endParaRPr lang="en-US" sz="3200" dirty="0"/>
          </a:p>
        </p:txBody>
      </p:sp>
      <p:sp>
        <p:nvSpPr>
          <p:cNvPr id="4" name="Text 1"/>
          <p:cNvSpPr txBox="1"/>
          <p:nvPr/>
        </p:nvSpPr>
        <p:spPr>
          <a:xfrm>
            <a:off x="1645920" y="1920240"/>
            <a:ext cx="8869680" cy="3657600"/>
          </a:xfrm>
          <a:prstGeom prst="rect">
            <a:avLst/>
          </a:prstGeom>
          <a:noFill/>
          <a:ln/>
        </p:spPr>
        <p:txBody>
          <a:bodyPr wrap="square" rtlCol="0" anchor="t"/>
          <a:lstStyle/>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Concevoir à partir d’un vrai besoin, validé par des utilisateurs — pas d’un cahier des charges théorique</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Mener un projet complet, seul, de l’idée à la préparation de la mise en production</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Résoudre en autonomie des problèmes techniques concrets et non anticipés</a:t>
            </a:r>
            <a:endParaRPr lang="en-US" sz="1700" dirty="0"/>
          </a:p>
          <a:p>
            <a:pPr marL="177800" indent="-177800">
              <a:spcAft>
                <a:spcPts val="1600"/>
              </a:spcAft>
              <a:buSzPct val="100000"/>
              <a:buChar char="•"/>
            </a:pPr>
            <a:r>
              <a:rPr lang="en-US" sz="1700" dirty="0">
                <a:solidFill>
                  <a:srgbClr val="C2C9D4"/>
                </a:solidFill>
                <a:latin typeface="Calibri" pitchFamily="34" charset="0"/>
                <a:ea typeface="Calibri" pitchFamily="34" charset="-122"/>
                <a:cs typeface="Calibri" pitchFamily="34" charset="-120"/>
              </a:rPr>
              <a:t>Relier un besoin humain réel à une solution technique</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822960" y="640080"/>
            <a:ext cx="10545775" cy="91440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Perspectives</a:t>
            </a:r>
            <a:endParaRPr lang="en-US" sz="3400" dirty="0"/>
          </a:p>
        </p:txBody>
      </p:sp>
      <p:sp>
        <p:nvSpPr>
          <p:cNvPr id="4" name="Shape 1"/>
          <p:cNvSpPr/>
          <p:nvPr/>
        </p:nvSpPr>
        <p:spPr>
          <a:xfrm>
            <a:off x="1828800" y="1856232"/>
            <a:ext cx="256032" cy="256032"/>
          </a:xfrm>
          <a:prstGeom prst="ellipse">
            <a:avLst/>
          </a:prstGeom>
          <a:solidFill>
            <a:srgbClr val="84B497"/>
          </a:solidFill>
          <a:ln/>
        </p:spPr>
      </p:sp>
      <p:sp>
        <p:nvSpPr>
          <p:cNvPr id="5" name="Text 2"/>
          <p:cNvSpPr txBox="1"/>
          <p:nvPr/>
        </p:nvSpPr>
        <p:spPr>
          <a:xfrm>
            <a:off x="2286000" y="1737360"/>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Automatiser l’envoi des rappels (tâche planifiée) et ajouter les notifications push</a:t>
            </a:r>
            <a:endParaRPr lang="en-US" sz="1600" dirty="0"/>
          </a:p>
        </p:txBody>
      </p:sp>
      <p:sp>
        <p:nvSpPr>
          <p:cNvPr id="6" name="Shape 3"/>
          <p:cNvSpPr/>
          <p:nvPr/>
        </p:nvSpPr>
        <p:spPr>
          <a:xfrm>
            <a:off x="1828800" y="2697480"/>
            <a:ext cx="256032" cy="256032"/>
          </a:xfrm>
          <a:prstGeom prst="ellipse">
            <a:avLst/>
          </a:prstGeom>
          <a:solidFill>
            <a:srgbClr val="84B497"/>
          </a:solidFill>
          <a:ln/>
        </p:spPr>
      </p:sp>
      <p:sp>
        <p:nvSpPr>
          <p:cNvPr id="7" name="Text 4"/>
          <p:cNvSpPr txBox="1"/>
          <p:nvPr/>
        </p:nvSpPr>
        <p:spPr>
          <a:xfrm>
            <a:off x="2286000" y="2578608"/>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Mettre en place des tests fonctionnels</a:t>
            </a:r>
            <a:endParaRPr lang="en-US" sz="1600" dirty="0"/>
          </a:p>
        </p:txBody>
      </p:sp>
      <p:sp>
        <p:nvSpPr>
          <p:cNvPr id="8" name="Shape 5"/>
          <p:cNvSpPr/>
          <p:nvPr/>
        </p:nvSpPr>
        <p:spPr>
          <a:xfrm>
            <a:off x="1828800" y="3538728"/>
            <a:ext cx="256032" cy="256032"/>
          </a:xfrm>
          <a:prstGeom prst="ellipse">
            <a:avLst/>
          </a:prstGeom>
          <a:solidFill>
            <a:srgbClr val="84B497"/>
          </a:solidFill>
          <a:ln/>
        </p:spPr>
      </p:sp>
      <p:sp>
        <p:nvSpPr>
          <p:cNvPr id="9" name="Text 6"/>
          <p:cNvSpPr txBox="1"/>
          <p:nvPr/>
        </p:nvSpPr>
        <p:spPr>
          <a:xfrm>
            <a:off x="2286000" y="3419856"/>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Renforcer la conformité RGPD (suppression, export des données)</a:t>
            </a:r>
            <a:endParaRPr lang="en-US" sz="1600" dirty="0"/>
          </a:p>
        </p:txBody>
      </p:sp>
      <p:sp>
        <p:nvSpPr>
          <p:cNvPr id="10" name="Shape 7"/>
          <p:cNvSpPr/>
          <p:nvPr/>
        </p:nvSpPr>
        <p:spPr>
          <a:xfrm>
            <a:off x="1828800" y="4379976"/>
            <a:ext cx="256032" cy="256032"/>
          </a:xfrm>
          <a:prstGeom prst="ellipse">
            <a:avLst/>
          </a:prstGeom>
          <a:solidFill>
            <a:srgbClr val="84B497"/>
          </a:solidFill>
          <a:ln/>
        </p:spPr>
      </p:sp>
      <p:sp>
        <p:nvSpPr>
          <p:cNvPr id="11" name="Text 8"/>
          <p:cNvSpPr txBox="1"/>
          <p:nvPr/>
        </p:nvSpPr>
        <p:spPr>
          <a:xfrm>
            <a:off x="2286000" y="4261104"/>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Conteneuriser et déployer en production (Docker, CI/CD)</a:t>
            </a:r>
            <a:endParaRPr lang="en-US" sz="1600" dirty="0"/>
          </a:p>
        </p:txBody>
      </p:sp>
      <p:sp>
        <p:nvSpPr>
          <p:cNvPr id="12" name="Shape 9"/>
          <p:cNvSpPr/>
          <p:nvPr/>
        </p:nvSpPr>
        <p:spPr>
          <a:xfrm>
            <a:off x="1828800" y="5221224"/>
            <a:ext cx="256032" cy="256032"/>
          </a:xfrm>
          <a:prstGeom prst="ellipse">
            <a:avLst/>
          </a:prstGeom>
          <a:solidFill>
            <a:srgbClr val="84B497"/>
          </a:solidFill>
          <a:ln/>
        </p:spPr>
      </p:sp>
      <p:sp>
        <p:nvSpPr>
          <p:cNvPr id="13" name="Text 10"/>
          <p:cNvSpPr txBox="1"/>
          <p:nvPr/>
        </p:nvSpPr>
        <p:spPr>
          <a:xfrm>
            <a:off x="2286000" y="5102352"/>
            <a:ext cx="8229600" cy="502920"/>
          </a:xfrm>
          <a:prstGeom prst="rect">
            <a:avLst/>
          </a:prstGeom>
          <a:noFill/>
          <a:ln/>
        </p:spPr>
        <p:txBody>
          <a:bodyPr wrap="square" rtlCol="0" anchor="ctr"/>
          <a:lstStyle/>
          <a:p>
            <a:pPr indent="0" marL="0">
              <a:buNone/>
            </a:pPr>
            <a:r>
              <a:rPr lang="en-US" sz="1600" dirty="0">
                <a:solidFill>
                  <a:srgbClr val="C2C9D4"/>
                </a:solidFill>
                <a:latin typeface="Calibri" pitchFamily="34" charset="0"/>
                <a:ea typeface="Calibri" pitchFamily="34" charset="-122"/>
                <a:cs typeface="Calibri" pitchFamily="34" charset="-120"/>
              </a:rPr>
              <a:t>Puis l’application mobile, en réutilisant la base et la logique via une API — comme présenté au début</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502920"/>
            <a:ext cx="12191695" cy="365760"/>
          </a:xfrm>
          <a:prstGeom prst="rect">
            <a:avLst/>
          </a:prstGeom>
          <a:noFill/>
          <a:ln/>
        </p:spPr>
        <p:txBody>
          <a:bodyPr wrap="square" rtlCol="0" anchor="ctr"/>
          <a:lstStyle/>
          <a:p>
            <a:pPr algn="ctr" indent="0" marL="0">
              <a:buNone/>
            </a:pPr>
            <a:r>
              <a:rPr lang="en-US" sz="1300" b="1" spc="400" kern="0" dirty="0">
                <a:solidFill>
                  <a:srgbClr val="B4A7D6"/>
                </a:solidFill>
                <a:latin typeface="Arial" pitchFamily="34" charset="0"/>
                <a:ea typeface="Arial" pitchFamily="34" charset="-122"/>
                <a:cs typeface="Arial" pitchFamily="34" charset="-120"/>
              </a:rPr>
              <a:t>CONCLUSION</a:t>
            </a:r>
            <a:endParaRPr lang="en-US" sz="1300" dirty="0"/>
          </a:p>
        </p:txBody>
      </p:sp>
      <p:sp>
        <p:nvSpPr>
          <p:cNvPr id="4" name="Text 1"/>
          <p:cNvSpPr txBox="1"/>
          <p:nvPr/>
        </p:nvSpPr>
        <p:spPr>
          <a:xfrm>
            <a:off x="1463040" y="1828800"/>
            <a:ext cx="9235440" cy="1554480"/>
          </a:xfrm>
          <a:prstGeom prst="rect">
            <a:avLst/>
          </a:prstGeom>
          <a:noFill/>
          <a:ln/>
        </p:spPr>
        <p:txBody>
          <a:bodyPr wrap="square" rtlCol="0" anchor="ctr"/>
          <a:lstStyle/>
          <a:p>
            <a:pPr algn="ctr" indent="0" marL="0">
              <a:buNone/>
            </a:pPr>
            <a:r>
              <a:rPr lang="en-US" sz="2300" i="1" dirty="0">
                <a:solidFill>
                  <a:srgbClr val="FFFFFF"/>
                </a:solidFill>
                <a:latin typeface="Calibri" pitchFamily="34" charset="0"/>
                <a:ea typeface="Calibri" pitchFamily="34" charset="-122"/>
                <a:cs typeface="Calibri" pitchFamily="34" charset="-120"/>
              </a:rPr>
              <a:t>« Parcours Santé est né d’une expérience personnelle : celle d’un patient confronté à la charge d’organisation qu’impose un parcours de soin. »</a:t>
            </a:r>
            <a:endParaRPr lang="en-US" sz="2300" dirty="0"/>
          </a:p>
        </p:txBody>
      </p:sp>
      <p:sp>
        <p:nvSpPr>
          <p:cNvPr id="5" name="Text 2"/>
          <p:cNvSpPr txBox="1"/>
          <p:nvPr/>
        </p:nvSpPr>
        <p:spPr>
          <a:xfrm>
            <a:off x="1828800" y="3749040"/>
            <a:ext cx="8503920" cy="1280160"/>
          </a:xfrm>
          <a:prstGeom prst="rect">
            <a:avLst/>
          </a:prstGeom>
          <a:noFill/>
          <a:ln/>
        </p:spPr>
        <p:txBody>
          <a:bodyPr wrap="square" rtlCol="0" anchor="ctr"/>
          <a:lstStyle/>
          <a:p>
            <a:pPr algn="ctr" indent="0" marL="0">
              <a:buNone/>
            </a:pPr>
            <a:r>
              <a:rPr lang="en-US" sz="1600" dirty="0">
                <a:solidFill>
                  <a:srgbClr val="C2C9D4"/>
                </a:solidFill>
                <a:latin typeface="Calibri" pitchFamily="34" charset="0"/>
                <a:ea typeface="Calibri" pitchFamily="34" charset="-122"/>
                <a:cs typeface="Calibri" pitchFamily="34" charset="-120"/>
              </a:rPr>
              <a:t>Ce qui a commencé comme un projet de fin d’année pourrait devenir un outil au service de personnes qui traversent la même épreuve.</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130"/>
        </a:solidFill>
      </p:bgPr>
    </p:bg>
    <p:spTree>
      <p:nvGrpSpPr>
        <p:cNvPr id="1" name=""/>
        <p:cNvGrpSpPr/>
        <p:nvPr/>
      </p:nvGrpSpPr>
      <p:grpSpPr>
        <a:xfrm>
          <a:off x="0" y="0"/>
          <a:ext cx="0" cy="0"/>
          <a:chOff x="0" y="0"/>
          <a:chExt cx="0" cy="0"/>
        </a:xfrm>
      </p:grpSpPr>
      <p:sp>
        <p:nvSpPr>
          <p:cNvPr id="3" name="Text 0"/>
          <p:cNvSpPr txBox="1"/>
          <p:nvPr/>
        </p:nvSpPr>
        <p:spPr>
          <a:xfrm>
            <a:off x="0" y="2743200"/>
            <a:ext cx="1219169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Merci de votre attention</a:t>
            </a:r>
            <a:endParaRPr lang="en-US" sz="4400" dirty="0"/>
          </a:p>
        </p:txBody>
      </p:sp>
      <p:sp>
        <p:nvSpPr>
          <p:cNvPr id="4" name="Text 1"/>
          <p:cNvSpPr txBox="1"/>
          <p:nvPr/>
        </p:nvSpPr>
        <p:spPr>
          <a:xfrm>
            <a:off x="0" y="3749040"/>
            <a:ext cx="12191695" cy="457200"/>
          </a:xfrm>
          <a:prstGeom prst="rect">
            <a:avLst/>
          </a:prstGeom>
          <a:noFill/>
          <a:ln/>
        </p:spPr>
        <p:txBody>
          <a:bodyPr wrap="square" rtlCol="0" anchor="ctr"/>
          <a:lstStyle/>
          <a:p>
            <a:pPr algn="ctr" indent="0" marL="0">
              <a:buNone/>
            </a:pPr>
            <a:r>
              <a:rPr lang="en-US" sz="1800" i="1" dirty="0">
                <a:solidFill>
                  <a:srgbClr val="B4A7D6"/>
                </a:solidFill>
                <a:latin typeface="Calibri" pitchFamily="34" charset="0"/>
                <a:ea typeface="Calibri" pitchFamily="34" charset="-122"/>
                <a:cs typeface="Calibri" pitchFamily="34" charset="-120"/>
              </a:rPr>
              <a:t>Je suis à votre disposition pour vos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2026-09-12T15:53:51Z</dcterms:created>
  <dcterms:modified xsi:type="dcterms:W3CDTF">2026-09-12T15:53:51Z</dcterms:modified>
</cp:coreProperties>
</file>