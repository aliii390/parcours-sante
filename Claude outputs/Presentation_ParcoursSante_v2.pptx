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 Je vais vous présenter Parcours Santé, mon projet pour le titre de Concepteur Développeur d'Applications. C'est une application née d'une expérience personnelle, que je vais vous raconter.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me présente en une minute : mon parcours, ma formation, et surtout ma motivation — ce projet est né de mon vécu, j'y reviens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de ma présentation, en quatre temps : d'abord le besoin, puis la solution avec une démonstration, ensuite la conception et la réalisation technique, et enfin le déploiement et le bilan. C'est le fil que je vais suivre du début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parti de mon vécu. Confronté à la maladie et au traitement, j'ai découvert à quel point le quotidien d'un patient devient une charge d'organisation permanente. Et je n'ai trouvé aucun outil simple pour m'aider. C'est le point de départ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un patient fait face à trois difficultés au quotidien. L'organisation : de nombreux rendez-vous et traitements dispersés. Le rappel : se souvenir de prendre chaque médicament à la bonne heure. Et la communication : garder une trace claire de ses symptômes pour en parler à son médecin. Ce sont les trois problèmes que je voulais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était-ce seulement mon besoin ? Pour le vérifier, je ne me suis pas fié à mon seul ressenti : je suis allé à la rencontre de patients et j'ai mené des entretiens. J'en ai tiré trois personas — Marie, Robert et Sarah — avec des attentes et des niveaux d'aisance très différents. J'ai retrouvé chez eux les mêmes difficultés : le besoin était bien réel et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ensuite regardé ce qui existait déjà. Calmedica est réservé aux professionnels, sans accès patient. Mon Suivi Psy est très bien mais limité à la santé mentale. Doctolib gère les rendez-vous mais ni le journal ni les traitements. Conclusion : aucune solution ne réunit, en français et pour le patient, les rendez-vous, les médicaments et le journal dans une seule interface. C'est ce manque que Parcours Santé vient combler.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réponse à ce manque : Parcours Santé, qui centralise le parcours de soin autour de trois modules. Un : les rendez-vous. Deux : les médicaments, avec des rappels. Trois : le journal des symptômes, avec une cotation et un graphique d'évolution. Le tout complété par un tableau de bord qui donne une vue de la journée à la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telle qu'elle a été développée : la connexion, le tableau de bord, la gestion des médicaments et le journal avec son graphique. Je vais vous la montrer en direct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une démonstration en direct de l'application. [DÉMO : montrer la connexion, ajouter un rendez-vous, ajouter un médicament et sa prise, créer une entrée de journal et montrer le graphique qui se met à jour.] Prévoir 5 à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un choix de conception : pour cette première version, j'ai fait le choix assumé d'une application web plutôt que mobile. Cela m'a permis de livrer un produit complet et cohérent de bout en bout, accessible sans installation, et surtout une base réutilisable. Le mobile reste la cible finale — j'y reviendrai dans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conception et à la réalisation technique. Je vais vous montrer comment j'ai organisé le projet, modélisé les données, structuré le code, puis développé et sécurisé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j'ai mené ce projet seul et en parallèle d'un traitement, il me fallait une organisation souple. J'ai choisi une méthode agile de type Kanban, avec Trello : chaque fonctionnalité était une carte que je faisais avancer de « à faire » à « terminé ». Après une interruption, je reprenais tout de suite là où j'en étais. Un diagramme de Gantt détaille le planning de février à août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du besoin, j'ai rédigé des user stories — ce que l'utilisateur doit pouvoir faire — puis je les ai priorisées avec la méthode MoSCoW. Le « Must have » : l'essentiel, ce que j'ai développé. Le « Should » et « Could » : des améliorations. Et le « Won't » : ce que j'ai volontairement laissé de côté pour cette version. Ça m'a permis de rester concentré sur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structuré l'application en couches, selon le patron MVC de Symfony. Chaque couche a un rôle unique : la présentation avec Twig, le contrôleur qui coordonne, la couche métier avec mes services et commandes, l'accès aux données avec les repositories, et la persistance gérée par Doctrine vers MySQL. Cette séparation rend le code lisible, testable, et surtout évolutif — c'est ce qui permettra de réutiliser la logique pour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données, j'ai suivi la méthode Merise. Le modèle conceptuel, le MCD, représente les sept entités de mon domaine — patient, rendez-vous, médicament, prise, journal, symptôme, catégorie — et les associations entre elles, avec les cardinalités : par exemple, un patient a plusieurs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MCD est ensuite traduit en modèle logique — les tables avec leurs clés primaires et étrangères — puis en modèle physique, le MPD, avec les types SQL précis, prêt à être créé dans MySQL. On va donc du plus abstrait au plus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 où Merise décrit la base, UML décrit l'application. Le diagramme de cas d'utilisation montre ce que le patient peut faire : s'inscrire, se connecter, gérer ses rendez-vous et ses médicaments, tenir son journal, consulter son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montre la structure objet, avec les attributs et les méthodes — par exemple la méthode isActif d'un médicament. Le diagramme de séquence, lui, montre l'ordre des échanges pour un scénario précis, ici l'ajout d'un médicament : la vue, le contrôleur, le formulaire, l'ORM et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technologies, j'ai fait des choix cohérents et éprouvés : Symfony 7.4 et PHP 8.2 côté serveur, Twig pour les vues, Tailwind pour l'interface, Chart.js pour les graphiques, MySQL avec l'ORM Doctrine pour les données, un environnement local WAMP, et Git pour le versionnement. Des technologies que je maîtrise, ce qui m'a permis d'aller à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zoomer sur deux fonctionnalités que j'ai choisi de vous présenter en détail, parce qu'elles portent une vraie logique métier : les rappels de médicament, et le journal des symptômes avec son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fonctionnalité : les rappels. Ce n'est pas une page web, c'est une commande console Symfony. Quand on la lance, elle demande au repository toutes les prises non effectuées, retrouve pour chacune le médicament et le patient, et envoie un email de rappel via Symfony Mailer — en développement vers Mailtrap. Aujourd'hui je la lance manuellement pour démontrer le mécanisme ; l'automatisation par une tâche planifiée est prévue.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fonctionnalité : le journal. Le patient note son symptôme, son intensité de 1 à 10 et une remarque. Point technique important : le serveur fournit les données, Twig les injecte dans la page, mais c'est Chart.js, côté navigateur, qui dessine la courbe. Le serveur ne génère pas l'image. Ce graphique est pensé comme un support de dialogue avec l'équipe soignante.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l'application manipule des données de santé, très sensibles, la sécurité était centrale. Les mots de passe sont hachés par le composant Security de Symfony, de façon irréversible. Chaque patient n'accède qu'à ses propres données, avec une vérification de propriété. Les formulaires sont protégés contre le CSRF par un jeton. Et je respecte les principes du RGPD : minimisation des données et HTTPS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garantir la qualité, j'ai mis en place des tests unitaires avec PHPUnit sur ma logique métier — par exemple la méthode isActif, en vérifiant le cas d'un médicament expiré, à venir, et en cours. Ils passent : 7 tests, 8 assertions. L'étape suivante serait d'ajouter des tests fonctionnels, que j'ai identifiée comme axe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déploiement. Aujourd'hui l'application tourne en local sur WAMP, avec le code versionné sur Git. Pour la mise en production, j'ai préparé une procédure reproductible : récupération du code, installation des dépendances, application des migrations Doctrine pour reconstruire la base, et activation du HTTPS. Comme perspectives : la conteneurisation avec Docker et une chaîne d'intégration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l'examen, le projet a trouvé un écho concret. Je l'ai présenté au service informatique du Centre Léon Bérard, où je suis soigné, et l'équipe s'y est intéressée : elle envisage de le reprendre et de l'adapter. C'est une collaboration bénévole, née de ma situation de patient — et ça renforce l'exigence de sérieux sur la sécurité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difficultés ont été réelles. D'abord mener ce projet seul, en parallèle d'un traitement. Ensuite, sur le plan technique : modéliser proprement les données, faire évoluer la base sans casser l'existant, et comprendre le fonctionnement de mon environnement — par exemple le cycle de vie de Turbo pour mon graphique. Chaque difficulté m'a fait progresser.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m'a apporté autre chose que des compétences techniques que je possédais déjà. Il m'a appris à concevoir à partir d'un vrai besoin, validé par des utilisateurs, et non d'un cahier des charges théorique. À mener un projet de bout en bout, seul, de l'idée jusqu'à la préparation de la mise en production. À résoudre par moi-même des problèmes que je n'avais pas anticipés. Et surtout, à relier un besoin humain réel à une solution technique — c'est ce qui a donné du sens à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 à la suite : la cible finale reste l'application mobile, qui s'appuiera sur une API pour réutiliser la base et la logique déjà développées. J'automatiserai les rappels et j'ajouterai les notifications push. Je mettrai en place des tests fonctionnels, je renforcerai la conformité RGPD, et je conteneuriserai l'application pour le déploiement. Le projet est donc pensé comme une première brique, pas comme un aboutissement.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Parcours Santé est né d'une expérience personnelle, celle d'un patient confronté à la charge d'organisation qu'impose un parcours de soin. Ce qui a commencé comme un projet de fin d'année pourrait devenir un outil au service de personnes qui traversent la même épreuve. Et ça, pour moi, c'est la plus belle réussite. Je vous remercie.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2468880"/>
            <a:ext cx="12191695" cy="365760"/>
          </a:xfrm>
          <a:prstGeom prst="rect">
            <a:avLst/>
          </a:prstGeom>
          <a:noFill/>
          <a:ln/>
        </p:spPr>
        <p:txBody>
          <a:bodyPr wrap="square" rtlCol="0" anchor="ctr"/>
          <a:lstStyle/>
          <a:p>
            <a:pPr algn="ctr" indent="0" marL="0">
              <a:buNone/>
            </a:pPr>
            <a:r>
              <a:rPr lang="en-US" sz="1500" b="1" spc="600" kern="0" dirty="0">
                <a:solidFill>
                  <a:srgbClr val="84B497"/>
                </a:solidFill>
                <a:latin typeface="Arial" pitchFamily="34" charset="0"/>
                <a:ea typeface="Arial" pitchFamily="34" charset="-122"/>
                <a:cs typeface="Arial" pitchFamily="34" charset="-120"/>
              </a:rPr>
              <a:t>PARCOURS SANTÉ</a:t>
            </a:r>
            <a:endParaRPr lang="en-US" sz="1500" dirty="0"/>
          </a:p>
        </p:txBody>
      </p:sp>
      <p:sp>
        <p:nvSpPr>
          <p:cNvPr id="4" name="Text 1"/>
          <p:cNvSpPr txBox="1"/>
          <p:nvPr/>
        </p:nvSpPr>
        <p:spPr>
          <a:xfrm>
            <a:off x="0" y="2880360"/>
            <a:ext cx="12191695" cy="100584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Soutenance CDA</a:t>
            </a:r>
            <a:endParaRPr lang="en-US" sz="5600" dirty="0"/>
          </a:p>
        </p:txBody>
      </p:sp>
      <p:sp>
        <p:nvSpPr>
          <p:cNvPr id="5" name="Text 2"/>
          <p:cNvSpPr txBox="1"/>
          <p:nvPr/>
        </p:nvSpPr>
        <p:spPr>
          <a:xfrm>
            <a:off x="0" y="4069080"/>
            <a:ext cx="12191695" cy="36576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Concepteur Développeur d’Applications  ·  RNCP 37873  ·  2025–2026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1280160"/>
            <a:ext cx="1054577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Qui suis-je ?</a:t>
            </a:r>
            <a:endParaRPr lang="en-US" sz="4400" dirty="0"/>
          </a:p>
        </p:txBody>
      </p:sp>
      <p:sp>
        <p:nvSpPr>
          <p:cNvPr id="4" name="Text 1"/>
          <p:cNvSpPr txBox="1"/>
          <p:nvPr/>
        </p:nvSpPr>
        <p:spPr>
          <a:xfrm>
            <a:off x="822960" y="2286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Parcours · Formation · Motivation</a:t>
            </a:r>
            <a:endParaRPr lang="en-US" sz="1800" dirty="0"/>
          </a:p>
        </p:txBody>
      </p:sp>
      <p:sp>
        <p:nvSpPr>
          <p:cNvPr id="5" name="Shape 2"/>
          <p:cNvSpPr/>
          <p:nvPr/>
        </p:nvSpPr>
        <p:spPr>
          <a:xfrm>
            <a:off x="2011680" y="3063240"/>
            <a:ext cx="8138160" cy="2651760"/>
          </a:xfrm>
          <a:prstGeom prst="roundRect">
            <a:avLst>
              <a:gd name="adj" fmla="val 3103"/>
            </a:avLst>
          </a:prstGeom>
          <a:solidFill>
            <a:srgbClr val="232C3D"/>
          </a:solidFill>
          <a:ln/>
        </p:spPr>
      </p:sp>
      <p:sp>
        <p:nvSpPr>
          <p:cNvPr id="6" name="Text 3"/>
          <p:cNvSpPr txBox="1"/>
          <p:nvPr/>
        </p:nvSpPr>
        <p:spPr>
          <a:xfrm>
            <a:off x="2468880" y="3429000"/>
            <a:ext cx="7223760" cy="1920240"/>
          </a:xfrm>
          <a:prstGeom prst="rect">
            <a:avLst/>
          </a:prstGeom>
          <a:noFill/>
          <a:ln/>
        </p:spPr>
        <p:txBody>
          <a:bodyPr wrap="square" rtlCol="0" anchor="t"/>
          <a:lstStyle/>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Mon parcours : </a:t>
            </a:r>
            <a:pPr indent="0" marL="0">
              <a:spcAft>
                <a:spcPts val="1400"/>
              </a:spcAft>
              <a:buNone/>
            </a:pPr>
            <a:r>
              <a:rPr lang="en-US" sz="1600" dirty="0">
                <a:solidFill>
                  <a:srgbClr val="828C9E"/>
                </a:solidFill>
                <a:latin typeface="Calibri" pitchFamily="34" charset="0"/>
                <a:ea typeface="Calibri" pitchFamily="34" charset="-122"/>
                <a:cs typeface="Calibri" pitchFamily="34" charset="-120"/>
              </a:rPr>
              <a:t>…………………………………………………</a:t>
            </a:r>
            <a:endParaRPr lang="en-US" sz="1600" dirty="0"/>
          </a:p>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Ma formation : </a:t>
            </a:r>
            <a:pPr indent="0" marL="0">
              <a:spcAft>
                <a:spcPts val="1400"/>
              </a:spcAft>
              <a:buNone/>
            </a:pPr>
            <a:r>
              <a:rPr lang="en-US" sz="1600" dirty="0">
                <a:solidFill>
                  <a:srgbClr val="828C9E"/>
                </a:solidFill>
                <a:latin typeface="Calibri" pitchFamily="34" charset="0"/>
                <a:ea typeface="Calibri" pitchFamily="34" charset="-122"/>
                <a:cs typeface="Calibri" pitchFamily="34" charset="-120"/>
              </a:rPr>
              <a:t>…………………………………………………</a:t>
            </a:r>
            <a:endParaRPr lang="en-US" sz="1600" dirty="0"/>
          </a:p>
          <a:p>
            <a:pPr indent="0" marL="0">
              <a:spcAft>
                <a:spcPts val="1400"/>
              </a:spcAft>
              <a:buNone/>
            </a:pPr>
            <a:r>
              <a:rPr lang="en-US" sz="1600" b="1" dirty="0">
                <a:solidFill>
                  <a:srgbClr val="FFFFFF"/>
                </a:solidFill>
                <a:latin typeface="Calibri" pitchFamily="34" charset="0"/>
                <a:ea typeface="Calibri" pitchFamily="34" charset="-122"/>
                <a:cs typeface="Calibri" pitchFamily="34" charset="-120"/>
              </a:rPr>
              <a:t>Ma motivation : </a:t>
            </a:r>
            <a:pPr indent="0" marL="0">
              <a:spcAft>
                <a:spcPts val="1400"/>
              </a:spcAft>
              <a:buNone/>
            </a:pPr>
            <a:r>
              <a:rPr lang="en-US" sz="1600" dirty="0">
                <a:solidFill>
                  <a:srgbClr val="C2C9D4"/>
                </a:solidFill>
                <a:latin typeface="Calibri" pitchFamily="34" charset="0"/>
                <a:ea typeface="Calibri" pitchFamily="34" charset="-122"/>
                <a:cs typeface="Calibri" pitchFamily="34" charset="-120"/>
              </a:rPr>
              <a:t>ce projet est né de mon expérience de patient.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640080"/>
            <a:ext cx="10545775" cy="91440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Le fil de ma présentation</a:t>
            </a:r>
            <a:endParaRPr lang="en-US" sz="3400" dirty="0"/>
          </a:p>
        </p:txBody>
      </p:sp>
      <p:sp>
        <p:nvSpPr>
          <p:cNvPr id="4" name="Shape 1"/>
          <p:cNvSpPr/>
          <p:nvPr/>
        </p:nvSpPr>
        <p:spPr>
          <a:xfrm>
            <a:off x="2194560" y="1828800"/>
            <a:ext cx="640080" cy="640080"/>
          </a:xfrm>
          <a:prstGeom prst="ellipse">
            <a:avLst/>
          </a:prstGeom>
          <a:solidFill>
            <a:srgbClr val="232C3D"/>
          </a:solidFill>
          <a:ln/>
        </p:spPr>
      </p:sp>
      <p:sp>
        <p:nvSpPr>
          <p:cNvPr id="5" name="Text 2"/>
          <p:cNvSpPr txBox="1"/>
          <p:nvPr/>
        </p:nvSpPr>
        <p:spPr>
          <a:xfrm>
            <a:off x="2194560" y="182880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1</a:t>
            </a:r>
            <a:endParaRPr lang="en-US" sz="2200" dirty="0"/>
          </a:p>
        </p:txBody>
      </p:sp>
      <p:sp>
        <p:nvSpPr>
          <p:cNvPr id="6" name="Text 3"/>
          <p:cNvSpPr txBox="1"/>
          <p:nvPr/>
        </p:nvSpPr>
        <p:spPr>
          <a:xfrm>
            <a:off x="3108960" y="178308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Le besoin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Mon expérience, le problème, sa validation</a:t>
            </a:r>
            <a:endParaRPr lang="en-US" sz="1900" dirty="0"/>
          </a:p>
        </p:txBody>
      </p:sp>
      <p:sp>
        <p:nvSpPr>
          <p:cNvPr id="7" name="Shape 4"/>
          <p:cNvSpPr/>
          <p:nvPr/>
        </p:nvSpPr>
        <p:spPr>
          <a:xfrm>
            <a:off x="2194560" y="2880360"/>
            <a:ext cx="640080" cy="640080"/>
          </a:xfrm>
          <a:prstGeom prst="ellipse">
            <a:avLst/>
          </a:prstGeom>
          <a:solidFill>
            <a:srgbClr val="232C3D"/>
          </a:solidFill>
          <a:ln/>
        </p:spPr>
      </p:sp>
      <p:sp>
        <p:nvSpPr>
          <p:cNvPr id="8" name="Text 5"/>
          <p:cNvSpPr txBox="1"/>
          <p:nvPr/>
        </p:nvSpPr>
        <p:spPr>
          <a:xfrm>
            <a:off x="2194560" y="288036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2</a:t>
            </a:r>
            <a:endParaRPr lang="en-US" sz="2200" dirty="0"/>
          </a:p>
        </p:txBody>
      </p:sp>
      <p:sp>
        <p:nvSpPr>
          <p:cNvPr id="9" name="Text 6"/>
          <p:cNvSpPr txBox="1"/>
          <p:nvPr/>
        </p:nvSpPr>
        <p:spPr>
          <a:xfrm>
            <a:off x="3108960" y="283464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La solution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L’application et sa démonstration</a:t>
            </a:r>
            <a:endParaRPr lang="en-US" sz="1900" dirty="0"/>
          </a:p>
        </p:txBody>
      </p:sp>
      <p:sp>
        <p:nvSpPr>
          <p:cNvPr id="10" name="Shape 7"/>
          <p:cNvSpPr/>
          <p:nvPr/>
        </p:nvSpPr>
        <p:spPr>
          <a:xfrm>
            <a:off x="2194560" y="3931920"/>
            <a:ext cx="640080" cy="640080"/>
          </a:xfrm>
          <a:prstGeom prst="ellipse">
            <a:avLst/>
          </a:prstGeom>
          <a:solidFill>
            <a:srgbClr val="232C3D"/>
          </a:solidFill>
          <a:ln/>
        </p:spPr>
      </p:sp>
      <p:sp>
        <p:nvSpPr>
          <p:cNvPr id="11" name="Text 8"/>
          <p:cNvSpPr txBox="1"/>
          <p:nvPr/>
        </p:nvSpPr>
        <p:spPr>
          <a:xfrm>
            <a:off x="2194560" y="393192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3</a:t>
            </a:r>
            <a:endParaRPr lang="en-US" sz="2200" dirty="0"/>
          </a:p>
        </p:txBody>
      </p:sp>
      <p:sp>
        <p:nvSpPr>
          <p:cNvPr id="12" name="Text 9"/>
          <p:cNvSpPr txBox="1"/>
          <p:nvPr/>
        </p:nvSpPr>
        <p:spPr>
          <a:xfrm>
            <a:off x="3108960" y="388620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Conception &amp; réalisation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Données, architecture, code, sécurité, tests</a:t>
            </a:r>
            <a:endParaRPr lang="en-US" sz="1900" dirty="0"/>
          </a:p>
        </p:txBody>
      </p:sp>
      <p:sp>
        <p:nvSpPr>
          <p:cNvPr id="13" name="Shape 10"/>
          <p:cNvSpPr/>
          <p:nvPr/>
        </p:nvSpPr>
        <p:spPr>
          <a:xfrm>
            <a:off x="2194560" y="4983480"/>
            <a:ext cx="640080" cy="640080"/>
          </a:xfrm>
          <a:prstGeom prst="ellipse">
            <a:avLst/>
          </a:prstGeom>
          <a:solidFill>
            <a:srgbClr val="232C3D"/>
          </a:solidFill>
          <a:ln/>
        </p:spPr>
      </p:sp>
      <p:sp>
        <p:nvSpPr>
          <p:cNvPr id="14" name="Text 11"/>
          <p:cNvSpPr txBox="1"/>
          <p:nvPr/>
        </p:nvSpPr>
        <p:spPr>
          <a:xfrm>
            <a:off x="2194560" y="4983480"/>
            <a:ext cx="640080" cy="64008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4</a:t>
            </a:r>
            <a:endParaRPr lang="en-US" sz="2200" dirty="0"/>
          </a:p>
        </p:txBody>
      </p:sp>
      <p:sp>
        <p:nvSpPr>
          <p:cNvPr id="15" name="Text 12"/>
          <p:cNvSpPr txBox="1"/>
          <p:nvPr/>
        </p:nvSpPr>
        <p:spPr>
          <a:xfrm>
            <a:off x="3108960" y="4937760"/>
            <a:ext cx="6858000" cy="77724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Déploiement &amp; bilan</a:t>
            </a:r>
            <a:endParaRPr lang="en-US" sz="1900" dirty="0"/>
          </a:p>
          <a:p>
            <a:pPr indent="0" marL="0">
              <a:buNone/>
            </a:pPr>
            <a:r>
              <a:rPr lang="en-US" sz="1300" dirty="0">
                <a:solidFill>
                  <a:srgbClr val="828C9E"/>
                </a:solidFill>
                <a:latin typeface="Calibri" pitchFamily="34" charset="0"/>
                <a:ea typeface="Calibri" pitchFamily="34" charset="-122"/>
                <a:cs typeface="Calibri" pitchFamily="34" charset="-120"/>
              </a:rPr>
              <a:t>Mise en production, apports, perspectives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LE POINT DE DÉPART</a:t>
            </a:r>
            <a:endParaRPr lang="en-US" sz="1300" dirty="0"/>
          </a:p>
        </p:txBody>
      </p:sp>
      <p:sp>
        <p:nvSpPr>
          <p:cNvPr id="4" name="Text 1"/>
          <p:cNvSpPr txBox="1"/>
          <p:nvPr/>
        </p:nvSpPr>
        <p:spPr>
          <a:xfrm>
            <a:off x="1463040" y="2011680"/>
            <a:ext cx="9235440" cy="164592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 Confronté moi-même à la maladie et à son traitement, j’ai découvert à quel point le quotidien d’un patient devient une charge d’organisation permanente. »</a:t>
            </a:r>
            <a:endParaRPr lang="en-US" sz="2400" dirty="0"/>
          </a:p>
        </p:txBody>
      </p:sp>
      <p:sp>
        <p:nvSpPr>
          <p:cNvPr id="5" name="Text 2"/>
          <p:cNvSpPr txBox="1"/>
          <p:nvPr/>
        </p:nvSpPr>
        <p:spPr>
          <a:xfrm>
            <a:off x="2011680" y="4114800"/>
            <a:ext cx="8138160" cy="731520"/>
          </a:xfrm>
          <a:prstGeom prst="rect">
            <a:avLst/>
          </a:prstGeom>
          <a:noFill/>
          <a:ln/>
        </p:spPr>
        <p:txBody>
          <a:bodyPr wrap="square" rtlCol="0" anchor="ctr"/>
          <a:lstStyle/>
          <a:p>
            <a:pPr algn="ctr" indent="0" marL="0">
              <a:buNone/>
            </a:pPr>
            <a:r>
              <a:rPr lang="en-US" sz="1600" dirty="0">
                <a:solidFill>
                  <a:srgbClr val="C2C9D4"/>
                </a:solidFill>
                <a:latin typeface="Calibri" pitchFamily="34" charset="0"/>
                <a:ea typeface="Calibri" pitchFamily="34" charset="-122"/>
                <a:cs typeface="Calibri" pitchFamily="34" charset="-120"/>
              </a:rPr>
              <a:t>Aucun outil simple, gratuit et en français ne réunissait ces besoins en un seul endroit.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TROIS DIFFICULTÉS DU QUOTIDIEN</a:t>
            </a:r>
            <a:endParaRPr lang="en-US" sz="1300" dirty="0"/>
          </a:p>
        </p:txBody>
      </p:sp>
      <p:sp>
        <p:nvSpPr>
          <p:cNvPr id="4" name="Shape 1"/>
          <p:cNvSpPr/>
          <p:nvPr/>
        </p:nvSpPr>
        <p:spPr>
          <a:xfrm>
            <a:off x="822960" y="1828800"/>
            <a:ext cx="3291840" cy="3291840"/>
          </a:xfrm>
          <a:prstGeom prst="roundRect">
            <a:avLst>
              <a:gd name="adj" fmla="val 2500"/>
            </a:avLst>
          </a:prstGeom>
          <a:solidFill>
            <a:srgbClr val="232C3D"/>
          </a:solidFill>
          <a:ln/>
        </p:spPr>
      </p:sp>
      <p:sp>
        <p:nvSpPr>
          <p:cNvPr id="5" name="Text 2"/>
          <p:cNvSpPr txBox="1"/>
          <p:nvPr/>
        </p:nvSpPr>
        <p:spPr>
          <a:xfrm>
            <a:off x="11430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1</a:t>
            </a:r>
            <a:endParaRPr lang="en-US" sz="4000" dirty="0"/>
          </a:p>
        </p:txBody>
      </p:sp>
      <p:sp>
        <p:nvSpPr>
          <p:cNvPr id="6" name="Text 3"/>
          <p:cNvSpPr txBox="1"/>
          <p:nvPr/>
        </p:nvSpPr>
        <p:spPr>
          <a:xfrm>
            <a:off x="10972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Organisation</a:t>
            </a:r>
            <a:endParaRPr lang="en-US" sz="1900" dirty="0"/>
          </a:p>
        </p:txBody>
      </p:sp>
      <p:sp>
        <p:nvSpPr>
          <p:cNvPr id="7" name="Text 4"/>
          <p:cNvSpPr txBox="1"/>
          <p:nvPr/>
        </p:nvSpPr>
        <p:spPr>
          <a:xfrm>
            <a:off x="10972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De nombreux rendez-vous, des traitements, des symptômes… dispersés partout.</a:t>
            </a:r>
            <a:endParaRPr lang="en-US" sz="1400" dirty="0"/>
          </a:p>
        </p:txBody>
      </p:sp>
      <p:sp>
        <p:nvSpPr>
          <p:cNvPr id="8" name="Shape 5"/>
          <p:cNvSpPr/>
          <p:nvPr/>
        </p:nvSpPr>
        <p:spPr>
          <a:xfrm>
            <a:off x="4480560" y="1828800"/>
            <a:ext cx="3291840" cy="3291840"/>
          </a:xfrm>
          <a:prstGeom prst="roundRect">
            <a:avLst>
              <a:gd name="adj" fmla="val 2500"/>
            </a:avLst>
          </a:prstGeom>
          <a:solidFill>
            <a:srgbClr val="232C3D"/>
          </a:solidFill>
          <a:ln/>
        </p:spPr>
      </p:sp>
      <p:sp>
        <p:nvSpPr>
          <p:cNvPr id="9" name="Text 6"/>
          <p:cNvSpPr txBox="1"/>
          <p:nvPr/>
        </p:nvSpPr>
        <p:spPr>
          <a:xfrm>
            <a:off x="48006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47548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Rappel</a:t>
            </a:r>
            <a:endParaRPr lang="en-US" sz="1900" dirty="0"/>
          </a:p>
        </p:txBody>
      </p:sp>
      <p:sp>
        <p:nvSpPr>
          <p:cNvPr id="11" name="Text 8"/>
          <p:cNvSpPr txBox="1"/>
          <p:nvPr/>
        </p:nvSpPr>
        <p:spPr>
          <a:xfrm>
            <a:off x="47548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Se souvenir de prendre chaque médicament à la bonne heure.</a:t>
            </a:r>
            <a:endParaRPr lang="en-US" sz="1400" dirty="0"/>
          </a:p>
        </p:txBody>
      </p:sp>
      <p:sp>
        <p:nvSpPr>
          <p:cNvPr id="12" name="Shape 9"/>
          <p:cNvSpPr/>
          <p:nvPr/>
        </p:nvSpPr>
        <p:spPr>
          <a:xfrm>
            <a:off x="8138160" y="1828800"/>
            <a:ext cx="3291840" cy="3291840"/>
          </a:xfrm>
          <a:prstGeom prst="roundRect">
            <a:avLst>
              <a:gd name="adj" fmla="val 2500"/>
            </a:avLst>
          </a:prstGeom>
          <a:solidFill>
            <a:srgbClr val="232C3D"/>
          </a:solidFill>
          <a:ln/>
        </p:spPr>
      </p:sp>
      <p:sp>
        <p:nvSpPr>
          <p:cNvPr id="13" name="Text 10"/>
          <p:cNvSpPr txBox="1"/>
          <p:nvPr/>
        </p:nvSpPr>
        <p:spPr>
          <a:xfrm>
            <a:off x="8458200" y="2148840"/>
            <a:ext cx="82296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3</a:t>
            </a:r>
            <a:endParaRPr lang="en-US" sz="4000" dirty="0"/>
          </a:p>
        </p:txBody>
      </p:sp>
      <p:sp>
        <p:nvSpPr>
          <p:cNvPr id="14" name="Text 11"/>
          <p:cNvSpPr txBox="1"/>
          <p:nvPr/>
        </p:nvSpPr>
        <p:spPr>
          <a:xfrm>
            <a:off x="8412480" y="3063240"/>
            <a:ext cx="274320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Communication</a:t>
            </a:r>
            <a:endParaRPr lang="en-US" sz="1900" dirty="0"/>
          </a:p>
        </p:txBody>
      </p:sp>
      <p:sp>
        <p:nvSpPr>
          <p:cNvPr id="15" name="Text 12"/>
          <p:cNvSpPr txBox="1"/>
          <p:nvPr/>
        </p:nvSpPr>
        <p:spPr>
          <a:xfrm>
            <a:off x="8412480" y="3566160"/>
            <a:ext cx="2743200" cy="137160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Garder une trace claire de ses symptômes pour en parler à son médecin.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J’AI VALIDÉ LE BESOIN AUPRÈS DE VRAIS PATIENTS</a:t>
            </a:r>
            <a:endParaRPr lang="en-US" sz="1300" dirty="0"/>
          </a:p>
        </p:txBody>
      </p:sp>
      <p:sp>
        <p:nvSpPr>
          <p:cNvPr id="4" name="Shape 1"/>
          <p:cNvSpPr/>
          <p:nvPr/>
        </p:nvSpPr>
        <p:spPr>
          <a:xfrm>
            <a:off x="1892972" y="1234440"/>
            <a:ext cx="8375575" cy="4206240"/>
          </a:xfrm>
          <a:prstGeom prst="roundRect">
            <a:avLst>
              <a:gd name="adj" fmla="val 1739"/>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personas-parcours-sante.png">    </p:cNvPr>
          <p:cNvPicPr>
            <a:picLocks noChangeAspect="1"/>
          </p:cNvPicPr>
          <p:nvPr/>
        </p:nvPicPr>
        <p:blipFill>
          <a:blip r:embed="rId1"/>
          <a:stretch>
            <a:fillRect/>
          </a:stretch>
        </p:blipFill>
        <p:spPr>
          <a:xfrm>
            <a:off x="2002700" y="1344168"/>
            <a:ext cx="8156119" cy="3986784"/>
          </a:xfrm>
          <a:prstGeom prst="rect">
            <a:avLst/>
          </a:prstGeom>
        </p:spPr>
      </p:pic>
      <p:sp>
        <p:nvSpPr>
          <p:cNvPr id="6" name="Text 2"/>
          <p:cNvSpPr txBox="1"/>
          <p:nvPr/>
        </p:nvSpPr>
        <p:spPr>
          <a:xfrm>
            <a:off x="822960" y="562356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Trois personas issus d’entretiens réels — des attentes et des niveaux d’aisance différents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CE QUI EXISTE DÉJÀ — ET LE MANQUE</a:t>
            </a:r>
            <a:endParaRPr lang="en-US" sz="1300" dirty="0"/>
          </a:p>
        </p:txBody>
      </p:sp>
      <p:sp>
        <p:nvSpPr>
          <p:cNvPr id="4" name="Shape 1"/>
          <p:cNvSpPr/>
          <p:nvPr/>
        </p:nvSpPr>
        <p:spPr>
          <a:xfrm>
            <a:off x="822960" y="1737360"/>
            <a:ext cx="3291840" cy="2468880"/>
          </a:xfrm>
          <a:prstGeom prst="roundRect">
            <a:avLst>
              <a:gd name="adj" fmla="val 3333"/>
            </a:avLst>
          </a:prstGeom>
          <a:solidFill>
            <a:srgbClr val="232C3D"/>
          </a:solidFill>
          <a:ln/>
        </p:spPr>
      </p:sp>
      <p:sp>
        <p:nvSpPr>
          <p:cNvPr id="5" name="Text 2"/>
          <p:cNvSpPr txBox="1"/>
          <p:nvPr/>
        </p:nvSpPr>
        <p:spPr>
          <a:xfrm>
            <a:off x="10972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Calmedica</a:t>
            </a:r>
            <a:endParaRPr lang="en-US" sz="1800" dirty="0"/>
          </a:p>
        </p:txBody>
      </p:sp>
      <p:sp>
        <p:nvSpPr>
          <p:cNvPr id="6" name="Text 3"/>
          <p:cNvSpPr txBox="1"/>
          <p:nvPr/>
        </p:nvSpPr>
        <p:spPr>
          <a:xfrm>
            <a:off x="10972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Télésurveillance validée</a:t>
            </a:r>
            <a:endParaRPr lang="en-US" sz="1300" dirty="0"/>
          </a:p>
        </p:txBody>
      </p:sp>
      <p:sp>
        <p:nvSpPr>
          <p:cNvPr id="7" name="Text 4"/>
          <p:cNvSpPr txBox="1"/>
          <p:nvPr/>
        </p:nvSpPr>
        <p:spPr>
          <a:xfrm>
            <a:off x="10972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Réservée aux pros, pas d’accès patient</a:t>
            </a:r>
            <a:endParaRPr lang="en-US" sz="1300" dirty="0"/>
          </a:p>
        </p:txBody>
      </p:sp>
      <p:sp>
        <p:nvSpPr>
          <p:cNvPr id="8" name="Shape 5"/>
          <p:cNvSpPr/>
          <p:nvPr/>
        </p:nvSpPr>
        <p:spPr>
          <a:xfrm>
            <a:off x="4480560" y="1737360"/>
            <a:ext cx="3291840" cy="2468880"/>
          </a:xfrm>
          <a:prstGeom prst="roundRect">
            <a:avLst>
              <a:gd name="adj" fmla="val 3333"/>
            </a:avLst>
          </a:prstGeom>
          <a:solidFill>
            <a:srgbClr val="232C3D"/>
          </a:solidFill>
          <a:ln/>
        </p:spPr>
      </p:sp>
      <p:sp>
        <p:nvSpPr>
          <p:cNvPr id="9" name="Text 6"/>
          <p:cNvSpPr txBox="1"/>
          <p:nvPr/>
        </p:nvSpPr>
        <p:spPr>
          <a:xfrm>
            <a:off x="47548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Mon Suivi Psy</a:t>
            </a:r>
            <a:endParaRPr lang="en-US" sz="1800" dirty="0"/>
          </a:p>
        </p:txBody>
      </p:sp>
      <p:sp>
        <p:nvSpPr>
          <p:cNvPr id="10" name="Text 7"/>
          <p:cNvSpPr txBox="1"/>
          <p:nvPr/>
        </p:nvSpPr>
        <p:spPr>
          <a:xfrm>
            <a:off x="47548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Journal + graphiques</a:t>
            </a:r>
            <a:endParaRPr lang="en-US" sz="1300" dirty="0"/>
          </a:p>
        </p:txBody>
      </p:sp>
      <p:sp>
        <p:nvSpPr>
          <p:cNvPr id="11" name="Text 8"/>
          <p:cNvSpPr txBox="1"/>
          <p:nvPr/>
        </p:nvSpPr>
        <p:spPr>
          <a:xfrm>
            <a:off x="47548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Santé mentale uniquement</a:t>
            </a:r>
            <a:endParaRPr lang="en-US" sz="1300" dirty="0"/>
          </a:p>
        </p:txBody>
      </p:sp>
      <p:sp>
        <p:nvSpPr>
          <p:cNvPr id="12" name="Shape 9"/>
          <p:cNvSpPr/>
          <p:nvPr/>
        </p:nvSpPr>
        <p:spPr>
          <a:xfrm>
            <a:off x="8138160" y="1737360"/>
            <a:ext cx="3291840" cy="2468880"/>
          </a:xfrm>
          <a:prstGeom prst="roundRect">
            <a:avLst>
              <a:gd name="adj" fmla="val 3333"/>
            </a:avLst>
          </a:prstGeom>
          <a:solidFill>
            <a:srgbClr val="232C3D"/>
          </a:solidFill>
          <a:ln/>
        </p:spPr>
      </p:sp>
      <p:sp>
        <p:nvSpPr>
          <p:cNvPr id="13" name="Text 10"/>
          <p:cNvSpPr txBox="1"/>
          <p:nvPr/>
        </p:nvSpPr>
        <p:spPr>
          <a:xfrm>
            <a:off x="8412480" y="1965960"/>
            <a:ext cx="27432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Doctolib</a:t>
            </a:r>
            <a:endParaRPr lang="en-US" sz="1800" dirty="0"/>
          </a:p>
        </p:txBody>
      </p:sp>
      <p:sp>
        <p:nvSpPr>
          <p:cNvPr id="14" name="Text 11"/>
          <p:cNvSpPr txBox="1"/>
          <p:nvPr/>
        </p:nvSpPr>
        <p:spPr>
          <a:xfrm>
            <a:off x="8412480" y="2514600"/>
            <a:ext cx="2743200" cy="731520"/>
          </a:xfrm>
          <a:prstGeom prst="rect">
            <a:avLst/>
          </a:prstGeom>
          <a:noFill/>
          <a:ln/>
        </p:spPr>
        <p:txBody>
          <a:bodyPr wrap="square" rtlCol="0" anchor="ctr"/>
          <a:lstStyle/>
          <a:p>
            <a:pPr indent="0" marL="0">
              <a:buNone/>
            </a:pPr>
            <a:r>
              <a:rPr lang="en-US" sz="1300" b="1" dirty="0">
                <a:solidFill>
                  <a:srgbClr val="84B497"/>
                </a:solidFill>
                <a:latin typeface="Calibri" pitchFamily="34" charset="0"/>
                <a:ea typeface="Calibri" pitchFamily="34" charset="-122"/>
                <a:cs typeface="Calibri" pitchFamily="34" charset="-120"/>
              </a:rPr>
              <a:t>Fort  </a:t>
            </a:r>
            <a:pPr indent="0" marL="0">
              <a:buNone/>
            </a:pPr>
            <a:r>
              <a:rPr lang="en-US" sz="1300" dirty="0">
                <a:solidFill>
                  <a:srgbClr val="C2C9D4"/>
                </a:solidFill>
                <a:latin typeface="Calibri" pitchFamily="34" charset="0"/>
                <a:ea typeface="Calibri" pitchFamily="34" charset="-122"/>
                <a:cs typeface="Calibri" pitchFamily="34" charset="-120"/>
              </a:rPr>
              <a:t>Référence des RDV</a:t>
            </a:r>
            <a:endParaRPr lang="en-US" sz="1300" dirty="0"/>
          </a:p>
        </p:txBody>
      </p:sp>
      <p:sp>
        <p:nvSpPr>
          <p:cNvPr id="15" name="Text 12"/>
          <p:cNvSpPr txBox="1"/>
          <p:nvPr/>
        </p:nvSpPr>
        <p:spPr>
          <a:xfrm>
            <a:off x="8412480" y="3246120"/>
            <a:ext cx="2743200" cy="822960"/>
          </a:xfrm>
          <a:prstGeom prst="rect">
            <a:avLst/>
          </a:prstGeom>
          <a:noFill/>
          <a:ln/>
        </p:spPr>
        <p:txBody>
          <a:bodyPr wrap="square" rtlCol="0" anchor="ctr"/>
          <a:lstStyle/>
          <a:p>
            <a:pPr indent="0" marL="0">
              <a:buNone/>
            </a:pPr>
            <a:r>
              <a:rPr lang="en-US" sz="1300" b="1" dirty="0">
                <a:solidFill>
                  <a:srgbClr val="D98C8C"/>
                </a:solidFill>
                <a:latin typeface="Calibri" pitchFamily="34" charset="0"/>
                <a:ea typeface="Calibri" pitchFamily="34" charset="-122"/>
                <a:cs typeface="Calibri" pitchFamily="34" charset="-120"/>
              </a:rPr>
              <a:t>Limite  </a:t>
            </a:r>
            <a:pPr indent="0" marL="0">
              <a:buNone/>
            </a:pPr>
            <a:r>
              <a:rPr lang="en-US" sz="1300" dirty="0">
                <a:solidFill>
                  <a:srgbClr val="C2C9D4"/>
                </a:solidFill>
                <a:latin typeface="Calibri" pitchFamily="34" charset="0"/>
                <a:ea typeface="Calibri" pitchFamily="34" charset="-122"/>
                <a:cs typeface="Calibri" pitchFamily="34" charset="-120"/>
              </a:rPr>
              <a:t>Ni journal ni suivi des traitements</a:t>
            </a:r>
            <a:endParaRPr lang="en-US" sz="1300" dirty="0"/>
          </a:p>
        </p:txBody>
      </p:sp>
      <p:sp>
        <p:nvSpPr>
          <p:cNvPr id="16" name="Text 13"/>
          <p:cNvSpPr txBox="1"/>
          <p:nvPr/>
        </p:nvSpPr>
        <p:spPr>
          <a:xfrm>
            <a:off x="1097280" y="4480560"/>
            <a:ext cx="9966960" cy="731520"/>
          </a:xfrm>
          <a:prstGeom prst="rect">
            <a:avLst/>
          </a:prstGeom>
          <a:noFill/>
          <a:ln/>
        </p:spPr>
        <p:txBody>
          <a:bodyPr wrap="square" rtlCol="0" anchor="ctr"/>
          <a:lstStyle/>
          <a:p>
            <a:pPr algn="ctr" indent="0" marL="0">
              <a:buNone/>
            </a:pPr>
            <a:r>
              <a:rPr lang="en-US" sz="1500" i="1" dirty="0">
                <a:solidFill>
                  <a:srgbClr val="B4A7D6"/>
                </a:solidFill>
                <a:latin typeface="Calibri" pitchFamily="34" charset="0"/>
                <a:ea typeface="Calibri" pitchFamily="34" charset="-122"/>
                <a:cs typeface="Calibri" pitchFamily="34" charset="-120"/>
              </a:rPr>
              <a:t>Aucune solution ne réunit, en français et pour le patient, RDV + médicaments + journal dans une seule interface.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LA SOLUTION : CENTRALISER LE PARCOURS DE SOIN</a:t>
            </a:r>
            <a:endParaRPr lang="en-US" sz="1300" dirty="0"/>
          </a:p>
        </p:txBody>
      </p:sp>
      <p:sp>
        <p:nvSpPr>
          <p:cNvPr id="4" name="Shape 1"/>
          <p:cNvSpPr/>
          <p:nvPr/>
        </p:nvSpPr>
        <p:spPr>
          <a:xfrm>
            <a:off x="822960" y="1828800"/>
            <a:ext cx="3291840" cy="3108960"/>
          </a:xfrm>
          <a:prstGeom prst="roundRect">
            <a:avLst>
              <a:gd name="adj" fmla="val 2647"/>
            </a:avLst>
          </a:prstGeom>
          <a:solidFill>
            <a:srgbClr val="232C3D"/>
          </a:solidFill>
          <a:ln/>
        </p:spPr>
      </p:sp>
      <p:sp>
        <p:nvSpPr>
          <p:cNvPr id="5" name="Text 2"/>
          <p:cNvSpPr txBox="1"/>
          <p:nvPr/>
        </p:nvSpPr>
        <p:spPr>
          <a:xfrm>
            <a:off x="10972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1</a:t>
            </a:r>
            <a:endParaRPr lang="en-US" sz="4000" dirty="0"/>
          </a:p>
        </p:txBody>
      </p:sp>
      <p:sp>
        <p:nvSpPr>
          <p:cNvPr id="6" name="Text 3"/>
          <p:cNvSpPr txBox="1"/>
          <p:nvPr/>
        </p:nvSpPr>
        <p:spPr>
          <a:xfrm>
            <a:off x="10972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Rendez-vous</a:t>
            </a:r>
            <a:endParaRPr lang="en-US" sz="1700" dirty="0"/>
          </a:p>
        </p:txBody>
      </p:sp>
      <p:sp>
        <p:nvSpPr>
          <p:cNvPr id="7" name="Text 4"/>
          <p:cNvSpPr txBox="1"/>
          <p:nvPr/>
        </p:nvSpPr>
        <p:spPr>
          <a:xfrm>
            <a:off x="10972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Centraliser tous mes RDV médicaux (date, lieu, médecin, notes).</a:t>
            </a:r>
            <a:endParaRPr lang="en-US" sz="1400" dirty="0"/>
          </a:p>
        </p:txBody>
      </p:sp>
      <p:sp>
        <p:nvSpPr>
          <p:cNvPr id="8" name="Shape 5"/>
          <p:cNvSpPr/>
          <p:nvPr/>
        </p:nvSpPr>
        <p:spPr>
          <a:xfrm>
            <a:off x="4480560" y="1828800"/>
            <a:ext cx="3291840" cy="3108960"/>
          </a:xfrm>
          <a:prstGeom prst="roundRect">
            <a:avLst>
              <a:gd name="adj" fmla="val 2647"/>
            </a:avLst>
          </a:prstGeom>
          <a:solidFill>
            <a:srgbClr val="232C3D"/>
          </a:solidFill>
          <a:ln/>
        </p:spPr>
      </p:sp>
      <p:sp>
        <p:nvSpPr>
          <p:cNvPr id="9" name="Text 6"/>
          <p:cNvSpPr txBox="1"/>
          <p:nvPr/>
        </p:nvSpPr>
        <p:spPr>
          <a:xfrm>
            <a:off x="47548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47548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Médicaments</a:t>
            </a:r>
            <a:endParaRPr lang="en-US" sz="1700" dirty="0"/>
          </a:p>
        </p:txBody>
      </p:sp>
      <p:sp>
        <p:nvSpPr>
          <p:cNvPr id="11" name="Text 8"/>
          <p:cNvSpPr txBox="1"/>
          <p:nvPr/>
        </p:nvSpPr>
        <p:spPr>
          <a:xfrm>
            <a:off x="47548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Suivre mon traitement et recevoir des rappels de prise.</a:t>
            </a:r>
            <a:endParaRPr lang="en-US" sz="1400" dirty="0"/>
          </a:p>
        </p:txBody>
      </p:sp>
      <p:sp>
        <p:nvSpPr>
          <p:cNvPr id="12" name="Shape 9"/>
          <p:cNvSpPr/>
          <p:nvPr/>
        </p:nvSpPr>
        <p:spPr>
          <a:xfrm>
            <a:off x="8138160" y="1828800"/>
            <a:ext cx="3291840" cy="3108960"/>
          </a:xfrm>
          <a:prstGeom prst="roundRect">
            <a:avLst>
              <a:gd name="adj" fmla="val 2647"/>
            </a:avLst>
          </a:prstGeom>
          <a:solidFill>
            <a:srgbClr val="232C3D"/>
          </a:solidFill>
          <a:ln/>
        </p:spPr>
      </p:sp>
      <p:sp>
        <p:nvSpPr>
          <p:cNvPr id="13" name="Text 10"/>
          <p:cNvSpPr txBox="1"/>
          <p:nvPr/>
        </p:nvSpPr>
        <p:spPr>
          <a:xfrm>
            <a:off x="8412480" y="2103120"/>
            <a:ext cx="914400" cy="822960"/>
          </a:xfrm>
          <a:prstGeom prst="rect">
            <a:avLst/>
          </a:prstGeom>
          <a:noFill/>
          <a:ln/>
        </p:spPr>
        <p:txBody>
          <a:bodyPr wrap="square" rtlCol="0" anchor="ctr"/>
          <a:lstStyle/>
          <a:p>
            <a:pPr algn="ctr" indent="0" marL="0">
              <a:buNone/>
            </a:pPr>
            <a:r>
              <a:rPr lang="en-US" sz="4000" b="1" dirty="0">
                <a:solidFill>
                  <a:srgbClr val="84B497"/>
                </a:solidFill>
                <a:latin typeface="Arial" pitchFamily="34" charset="0"/>
                <a:ea typeface="Arial" pitchFamily="34" charset="-122"/>
                <a:cs typeface="Arial" pitchFamily="34" charset="-120"/>
              </a:rPr>
              <a:t>3</a:t>
            </a:r>
            <a:endParaRPr lang="en-US" sz="4000" dirty="0"/>
          </a:p>
        </p:txBody>
      </p:sp>
      <p:sp>
        <p:nvSpPr>
          <p:cNvPr id="14" name="Text 11"/>
          <p:cNvSpPr txBox="1"/>
          <p:nvPr/>
        </p:nvSpPr>
        <p:spPr>
          <a:xfrm>
            <a:off x="8412480" y="3063240"/>
            <a:ext cx="2743200" cy="54864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Journal des symptômes</a:t>
            </a:r>
            <a:endParaRPr lang="en-US" sz="1700" dirty="0"/>
          </a:p>
        </p:txBody>
      </p:sp>
      <p:sp>
        <p:nvSpPr>
          <p:cNvPr id="15" name="Text 12"/>
          <p:cNvSpPr txBox="1"/>
          <p:nvPr/>
        </p:nvSpPr>
        <p:spPr>
          <a:xfrm>
            <a:off x="8412480" y="3657600"/>
            <a:ext cx="2743200" cy="1188720"/>
          </a:xfrm>
          <a:prstGeom prst="rect">
            <a:avLst/>
          </a:prstGeom>
          <a:noFill/>
          <a:ln/>
        </p:spPr>
        <p:txBody>
          <a:bodyPr wrap="square" rtlCol="0" anchor="ctr"/>
          <a:lstStyle/>
          <a:p>
            <a:pPr indent="0" marL="0">
              <a:buNone/>
            </a:pPr>
            <a:r>
              <a:rPr lang="en-US" sz="1400" dirty="0">
                <a:solidFill>
                  <a:srgbClr val="C2C9D4"/>
                </a:solidFill>
                <a:latin typeface="Calibri" pitchFamily="34" charset="0"/>
                <a:ea typeface="Calibri" pitchFamily="34" charset="-122"/>
                <a:cs typeface="Calibri" pitchFamily="34" charset="-120"/>
              </a:rPr>
              <a:t>Noter l’intensité (1-10) et visualiser l’évolution sur 30 jours.</a:t>
            </a:r>
            <a:endParaRPr lang="en-US" sz="1400" dirty="0"/>
          </a:p>
        </p:txBody>
      </p:sp>
      <p:sp>
        <p:nvSpPr>
          <p:cNvPr id="16" name="Text 13"/>
          <p:cNvSpPr txBox="1"/>
          <p:nvPr/>
        </p:nvSpPr>
        <p:spPr>
          <a:xfrm>
            <a:off x="822960" y="5166360"/>
            <a:ext cx="10515600" cy="457200"/>
          </a:xfrm>
          <a:prstGeom prst="rect">
            <a:avLst/>
          </a:prstGeom>
          <a:noFill/>
          <a:ln/>
        </p:spPr>
        <p:txBody>
          <a:bodyPr wrap="square" rtlCol="0" anchor="ctr"/>
          <a:lstStyle/>
          <a:p>
            <a:pPr algn="ctr" indent="0" marL="0">
              <a:buNone/>
            </a:pPr>
            <a:r>
              <a:rPr lang="en-US" sz="1500" i="1" dirty="0">
                <a:solidFill>
                  <a:srgbClr val="B4A7D6"/>
                </a:solidFill>
                <a:latin typeface="Calibri" pitchFamily="34" charset="0"/>
                <a:ea typeface="Calibri" pitchFamily="34" charset="-122"/>
                <a:cs typeface="Calibri" pitchFamily="34" charset="-120"/>
              </a:rPr>
              <a:t>+  Un tableau de bord synthétique à la connexion.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L’APPLICATION, EN IMAGES</a:t>
            </a:r>
            <a:endParaRPr lang="en-US" sz="1300" dirty="0"/>
          </a:p>
        </p:txBody>
      </p:sp>
      <p:sp>
        <p:nvSpPr>
          <p:cNvPr id="4" name="Shape 1"/>
          <p:cNvSpPr/>
          <p:nvPr/>
        </p:nvSpPr>
        <p:spPr>
          <a:xfrm>
            <a:off x="640080" y="2408733"/>
            <a:ext cx="2651760" cy="1949094"/>
          </a:xfrm>
          <a:prstGeom prst="roundRect">
            <a:avLst>
              <a:gd name="adj" fmla="val 3753"/>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shots/01-connexion.png">    </p:cNvPr>
          <p:cNvPicPr>
            <a:picLocks noChangeAspect="1"/>
          </p:cNvPicPr>
          <p:nvPr/>
        </p:nvPicPr>
        <p:blipFill>
          <a:blip r:embed="rId1"/>
          <a:stretch>
            <a:fillRect/>
          </a:stretch>
        </p:blipFill>
        <p:spPr>
          <a:xfrm>
            <a:off x="749808" y="2518461"/>
            <a:ext cx="2432304" cy="1729638"/>
          </a:xfrm>
          <a:prstGeom prst="rect">
            <a:avLst/>
          </a:prstGeom>
        </p:spPr>
      </p:pic>
      <p:sp>
        <p:nvSpPr>
          <p:cNvPr id="6" name="Shape 2"/>
          <p:cNvSpPr/>
          <p:nvPr/>
        </p:nvSpPr>
        <p:spPr>
          <a:xfrm>
            <a:off x="3474720" y="2378329"/>
            <a:ext cx="2651760" cy="2009902"/>
          </a:xfrm>
          <a:prstGeom prst="roundRect">
            <a:avLst>
              <a:gd name="adj" fmla="val 3640"/>
            </a:avLst>
          </a:prstGeom>
          <a:solidFill>
            <a:srgbClr val="FFFFFF"/>
          </a:solidFill>
          <a:ln/>
          <a:effectLst>
            <a:outerShdw sx="100000" sy="100000" kx="0" ky="0" algn="bl" rotWithShape="0" blurRad="127000" dist="38100" dir="5400000">
              <a:srgbClr val="000000">
                <a:alpha val="35000"/>
              </a:srgbClr>
            </a:outerShdw>
          </a:effectLst>
        </p:spPr>
      </p:sp>
      <p:pic>
        <p:nvPicPr>
          <p:cNvPr id="7" name="Image 1" descr="/home/claude/parcours-sante-livrables/shots/03-tableau-de-bord.png">    </p:cNvPr>
          <p:cNvPicPr>
            <a:picLocks noChangeAspect="1"/>
          </p:cNvPicPr>
          <p:nvPr/>
        </p:nvPicPr>
        <p:blipFill>
          <a:blip r:embed="rId2"/>
          <a:stretch>
            <a:fillRect/>
          </a:stretch>
        </p:blipFill>
        <p:spPr>
          <a:xfrm>
            <a:off x="3584448" y="2488057"/>
            <a:ext cx="2432304" cy="1790446"/>
          </a:xfrm>
          <a:prstGeom prst="rect">
            <a:avLst/>
          </a:prstGeom>
        </p:spPr>
      </p:pic>
      <p:sp>
        <p:nvSpPr>
          <p:cNvPr id="8" name="Shape 3"/>
          <p:cNvSpPr/>
          <p:nvPr/>
        </p:nvSpPr>
        <p:spPr>
          <a:xfrm>
            <a:off x="6309360" y="2335257"/>
            <a:ext cx="2651760" cy="2096046"/>
          </a:xfrm>
          <a:prstGeom prst="roundRect">
            <a:avLst>
              <a:gd name="adj" fmla="val 3490"/>
            </a:avLst>
          </a:prstGeom>
          <a:solidFill>
            <a:srgbClr val="FFFFFF"/>
          </a:solidFill>
          <a:ln/>
          <a:effectLst>
            <a:outerShdw sx="100000" sy="100000" kx="0" ky="0" algn="bl" rotWithShape="0" blurRad="127000" dist="38100" dir="5400000">
              <a:srgbClr val="000000">
                <a:alpha val="35000"/>
              </a:srgbClr>
            </a:outerShdw>
          </a:effectLst>
        </p:spPr>
      </p:sp>
      <p:pic>
        <p:nvPicPr>
          <p:cNvPr id="9" name="Image 2" descr="/home/claude/parcours-sante-livrables/shots/05-medicament.png">    </p:cNvPr>
          <p:cNvPicPr>
            <a:picLocks noChangeAspect="1"/>
          </p:cNvPicPr>
          <p:nvPr/>
        </p:nvPicPr>
        <p:blipFill>
          <a:blip r:embed="rId3"/>
          <a:stretch>
            <a:fillRect/>
          </a:stretch>
        </p:blipFill>
        <p:spPr>
          <a:xfrm>
            <a:off x="6419088" y="2444985"/>
            <a:ext cx="2432304" cy="1876590"/>
          </a:xfrm>
          <a:prstGeom prst="rect">
            <a:avLst/>
          </a:prstGeom>
        </p:spPr>
      </p:pic>
      <p:sp>
        <p:nvSpPr>
          <p:cNvPr id="10" name="Shape 4"/>
          <p:cNvSpPr/>
          <p:nvPr/>
        </p:nvSpPr>
        <p:spPr>
          <a:xfrm>
            <a:off x="9144000" y="2081892"/>
            <a:ext cx="2651760" cy="2602776"/>
          </a:xfrm>
          <a:prstGeom prst="roundRect">
            <a:avLst>
              <a:gd name="adj" fmla="val 2811"/>
            </a:avLst>
          </a:prstGeom>
          <a:solidFill>
            <a:srgbClr val="FFFFFF"/>
          </a:solidFill>
          <a:ln/>
          <a:effectLst>
            <a:outerShdw sx="100000" sy="100000" kx="0" ky="0" algn="bl" rotWithShape="0" blurRad="127000" dist="38100" dir="5400000">
              <a:srgbClr val="000000">
                <a:alpha val="35000"/>
              </a:srgbClr>
            </a:outerShdw>
          </a:effectLst>
        </p:spPr>
      </p:sp>
      <p:pic>
        <p:nvPicPr>
          <p:cNvPr id="11" name="Image 3" descr="/home/claude/parcours-sante-livrables/shots/06-journal.png">    </p:cNvPr>
          <p:cNvPicPr>
            <a:picLocks noChangeAspect="1"/>
          </p:cNvPicPr>
          <p:nvPr/>
        </p:nvPicPr>
        <p:blipFill>
          <a:blip r:embed="rId4"/>
          <a:stretch>
            <a:fillRect/>
          </a:stretch>
        </p:blipFill>
        <p:spPr>
          <a:xfrm>
            <a:off x="9253728" y="2191620"/>
            <a:ext cx="2432304" cy="2383320"/>
          </a:xfrm>
          <a:prstGeom prst="rect">
            <a:avLst/>
          </a:prstGeom>
        </p:spPr>
      </p:pic>
      <p:sp>
        <p:nvSpPr>
          <p:cNvPr id="12" name="Text 5"/>
          <p:cNvSpPr txBox="1"/>
          <p:nvPr/>
        </p:nvSpPr>
        <p:spPr>
          <a:xfrm>
            <a:off x="822960" y="562356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Connexion · Tableau de bord · Médicaments · Journal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65176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Démonstration en direct</a:t>
            </a:r>
            <a:endParaRPr lang="en-US" sz="4600" dirty="0"/>
          </a:p>
        </p:txBody>
      </p:sp>
      <p:sp>
        <p:nvSpPr>
          <p:cNvPr id="4" name="Text 1"/>
          <p:cNvSpPr txBox="1"/>
          <p:nvPr/>
        </p:nvSpPr>
        <p:spPr>
          <a:xfrm>
            <a:off x="822960" y="370332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Parcours complet : connexion · rendez-vous · médicaments · journal</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82296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Pourquoi une application web ?</a:t>
            </a:r>
            <a:endParaRPr lang="en-US" sz="3200" dirty="0"/>
          </a:p>
        </p:txBody>
      </p:sp>
      <p:sp>
        <p:nvSpPr>
          <p:cNvPr id="4" name="Text 1"/>
          <p:cNvSpPr txBox="1"/>
          <p:nvPr/>
        </p:nvSpPr>
        <p:spPr>
          <a:xfrm>
            <a:off x="2011680" y="2011680"/>
            <a:ext cx="8138160" cy="2743200"/>
          </a:xfrm>
          <a:prstGeom prst="rect">
            <a:avLst/>
          </a:prstGeom>
          <a:noFill/>
          <a:ln/>
        </p:spPr>
        <p:txBody>
          <a:bodyPr wrap="square" rtlCol="0" anchor="t"/>
          <a:lstStyle/>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Livrer un produit complet et cohérent de bout en bout, plutôt qu’une application mobile partielle</a:t>
            </a:r>
            <a:endParaRPr lang="en-US" sz="1800" dirty="0"/>
          </a:p>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Accessible depuis un navigateur, sans installation</a:t>
            </a:r>
            <a:endParaRPr lang="en-US" sz="1800" dirty="0"/>
          </a:p>
          <a:p>
            <a:pPr marL="177800" indent="-177800">
              <a:spcAft>
                <a:spcPts val="1800"/>
              </a:spcAft>
              <a:buSzPct val="100000"/>
              <a:buChar char="•"/>
            </a:pPr>
            <a:r>
              <a:rPr lang="en-US" sz="1800" dirty="0">
                <a:solidFill>
                  <a:srgbClr val="C2C9D4"/>
                </a:solidFill>
                <a:latin typeface="Calibri" pitchFamily="34" charset="0"/>
                <a:ea typeface="Calibri" pitchFamily="34" charset="-122"/>
                <a:cs typeface="Calibri" pitchFamily="34" charset="-120"/>
              </a:rPr>
              <a:t>Une architecture pensée pour être réutilisée ensuite</a:t>
            </a:r>
            <a:endParaRPr lang="en-US" sz="1800" dirty="0"/>
          </a:p>
        </p:txBody>
      </p:sp>
      <p:sp>
        <p:nvSpPr>
          <p:cNvPr id="5" name="Text 2"/>
          <p:cNvSpPr txBox="1"/>
          <p:nvPr/>
        </p:nvSpPr>
        <p:spPr>
          <a:xfrm>
            <a:off x="2011680" y="5029200"/>
            <a:ext cx="8138160" cy="457200"/>
          </a:xfrm>
          <a:prstGeom prst="rect">
            <a:avLst/>
          </a:prstGeom>
          <a:noFill/>
          <a:ln/>
        </p:spPr>
        <p:txBody>
          <a:bodyPr wrap="square" rtlCol="0" anchor="ctr"/>
          <a:lstStyle/>
          <a:p>
            <a:pPr indent="0" marL="0">
              <a:buNone/>
            </a:pPr>
            <a:r>
              <a:rPr lang="en-US" sz="1500" i="1" dirty="0">
                <a:solidFill>
                  <a:srgbClr val="B4A7D6"/>
                </a:solidFill>
                <a:latin typeface="Calibri" pitchFamily="34" charset="0"/>
                <a:ea typeface="Calibri" pitchFamily="34" charset="-122"/>
                <a:cs typeface="Calibri" pitchFamily="34" charset="-120"/>
              </a:rPr>
              <a:t>→  Le mobile reste la cible finale : j’y reviens dans les perspectives.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Conception &amp; réalisation</a:t>
            </a:r>
            <a:endParaRPr lang="en-US" sz="46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De l’organisation du projet au code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029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Comment j’ai organisé le projet</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Méthode agile Kanban, pilotée avec Trello</a:t>
            </a:r>
            <a:endParaRPr lang="en-US" sz="1500" dirty="0"/>
          </a:p>
        </p:txBody>
      </p:sp>
      <p:sp>
        <p:nvSpPr>
          <p:cNvPr id="5" name="Shape 2"/>
          <p:cNvSpPr/>
          <p:nvPr/>
        </p:nvSpPr>
        <p:spPr>
          <a:xfrm>
            <a:off x="822960" y="2103120"/>
            <a:ext cx="3291840" cy="2286000"/>
          </a:xfrm>
          <a:prstGeom prst="roundRect">
            <a:avLst>
              <a:gd name="adj" fmla="val 3600"/>
            </a:avLst>
          </a:prstGeom>
          <a:solidFill>
            <a:srgbClr val="232C3D"/>
          </a:solidFill>
          <a:ln/>
        </p:spPr>
      </p:sp>
      <p:sp>
        <p:nvSpPr>
          <p:cNvPr id="6" name="Text 3"/>
          <p:cNvSpPr txBox="1"/>
          <p:nvPr/>
        </p:nvSpPr>
        <p:spPr>
          <a:xfrm>
            <a:off x="10972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À faire</a:t>
            </a:r>
            <a:endParaRPr lang="en-US" sz="1600" dirty="0"/>
          </a:p>
        </p:txBody>
      </p:sp>
      <p:sp>
        <p:nvSpPr>
          <p:cNvPr id="7" name="Shape 4"/>
          <p:cNvSpPr/>
          <p:nvPr/>
        </p:nvSpPr>
        <p:spPr>
          <a:xfrm>
            <a:off x="1097280" y="2834640"/>
            <a:ext cx="2743200" cy="365760"/>
          </a:xfrm>
          <a:prstGeom prst="roundRect">
            <a:avLst>
              <a:gd name="adj" fmla="val 12500"/>
            </a:avLst>
          </a:prstGeom>
          <a:solidFill>
            <a:srgbClr val="1B2130"/>
          </a:solidFill>
          <a:ln/>
        </p:spPr>
      </p:sp>
      <p:sp>
        <p:nvSpPr>
          <p:cNvPr id="8" name="Shape 5"/>
          <p:cNvSpPr/>
          <p:nvPr/>
        </p:nvSpPr>
        <p:spPr>
          <a:xfrm>
            <a:off x="1097280" y="3291840"/>
            <a:ext cx="2743200" cy="365760"/>
          </a:xfrm>
          <a:prstGeom prst="roundRect">
            <a:avLst>
              <a:gd name="adj" fmla="val 12500"/>
            </a:avLst>
          </a:prstGeom>
          <a:solidFill>
            <a:srgbClr val="1B2130"/>
          </a:solidFill>
          <a:ln/>
        </p:spPr>
      </p:sp>
      <p:sp>
        <p:nvSpPr>
          <p:cNvPr id="9" name="Shape 6"/>
          <p:cNvSpPr/>
          <p:nvPr/>
        </p:nvSpPr>
        <p:spPr>
          <a:xfrm>
            <a:off x="1097280" y="3749040"/>
            <a:ext cx="2743200" cy="365760"/>
          </a:xfrm>
          <a:prstGeom prst="roundRect">
            <a:avLst>
              <a:gd name="adj" fmla="val 12500"/>
            </a:avLst>
          </a:prstGeom>
          <a:solidFill>
            <a:srgbClr val="1B2130"/>
          </a:solidFill>
          <a:ln/>
        </p:spPr>
      </p:sp>
      <p:sp>
        <p:nvSpPr>
          <p:cNvPr id="10" name="Shape 7"/>
          <p:cNvSpPr/>
          <p:nvPr/>
        </p:nvSpPr>
        <p:spPr>
          <a:xfrm>
            <a:off x="4480560" y="2103120"/>
            <a:ext cx="3291840" cy="2286000"/>
          </a:xfrm>
          <a:prstGeom prst="roundRect">
            <a:avLst>
              <a:gd name="adj" fmla="val 3600"/>
            </a:avLst>
          </a:prstGeom>
          <a:solidFill>
            <a:srgbClr val="232C3D"/>
          </a:solidFill>
          <a:ln/>
        </p:spPr>
      </p:sp>
      <p:sp>
        <p:nvSpPr>
          <p:cNvPr id="11" name="Text 8"/>
          <p:cNvSpPr txBox="1"/>
          <p:nvPr/>
        </p:nvSpPr>
        <p:spPr>
          <a:xfrm>
            <a:off x="47548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En cours</a:t>
            </a:r>
            <a:endParaRPr lang="en-US" sz="1600" dirty="0"/>
          </a:p>
        </p:txBody>
      </p:sp>
      <p:sp>
        <p:nvSpPr>
          <p:cNvPr id="12" name="Shape 9"/>
          <p:cNvSpPr/>
          <p:nvPr/>
        </p:nvSpPr>
        <p:spPr>
          <a:xfrm>
            <a:off x="4754880" y="2834640"/>
            <a:ext cx="2743200" cy="365760"/>
          </a:xfrm>
          <a:prstGeom prst="roundRect">
            <a:avLst>
              <a:gd name="adj" fmla="val 12500"/>
            </a:avLst>
          </a:prstGeom>
          <a:solidFill>
            <a:srgbClr val="1B2130"/>
          </a:solidFill>
          <a:ln/>
        </p:spPr>
      </p:sp>
      <p:sp>
        <p:nvSpPr>
          <p:cNvPr id="13" name="Shape 10"/>
          <p:cNvSpPr/>
          <p:nvPr/>
        </p:nvSpPr>
        <p:spPr>
          <a:xfrm>
            <a:off x="4754880" y="3291840"/>
            <a:ext cx="2743200" cy="365760"/>
          </a:xfrm>
          <a:prstGeom prst="roundRect">
            <a:avLst>
              <a:gd name="adj" fmla="val 12500"/>
            </a:avLst>
          </a:prstGeom>
          <a:solidFill>
            <a:srgbClr val="1B2130"/>
          </a:solidFill>
          <a:ln/>
        </p:spPr>
      </p:sp>
      <p:sp>
        <p:nvSpPr>
          <p:cNvPr id="14" name="Shape 11"/>
          <p:cNvSpPr/>
          <p:nvPr/>
        </p:nvSpPr>
        <p:spPr>
          <a:xfrm>
            <a:off x="4754880" y="3749040"/>
            <a:ext cx="2743200" cy="365760"/>
          </a:xfrm>
          <a:prstGeom prst="roundRect">
            <a:avLst>
              <a:gd name="adj" fmla="val 12500"/>
            </a:avLst>
          </a:prstGeom>
          <a:solidFill>
            <a:srgbClr val="1B2130"/>
          </a:solidFill>
          <a:ln/>
        </p:spPr>
      </p:sp>
      <p:sp>
        <p:nvSpPr>
          <p:cNvPr id="15" name="Shape 12"/>
          <p:cNvSpPr/>
          <p:nvPr/>
        </p:nvSpPr>
        <p:spPr>
          <a:xfrm>
            <a:off x="8138160" y="2103120"/>
            <a:ext cx="3291840" cy="2286000"/>
          </a:xfrm>
          <a:prstGeom prst="roundRect">
            <a:avLst>
              <a:gd name="adj" fmla="val 3600"/>
            </a:avLst>
          </a:prstGeom>
          <a:solidFill>
            <a:srgbClr val="232C3D"/>
          </a:solidFill>
          <a:ln/>
        </p:spPr>
      </p:sp>
      <p:sp>
        <p:nvSpPr>
          <p:cNvPr id="16" name="Text 13"/>
          <p:cNvSpPr txBox="1"/>
          <p:nvPr/>
        </p:nvSpPr>
        <p:spPr>
          <a:xfrm>
            <a:off x="84124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Terminé</a:t>
            </a:r>
            <a:endParaRPr lang="en-US" sz="1600" dirty="0"/>
          </a:p>
        </p:txBody>
      </p:sp>
      <p:sp>
        <p:nvSpPr>
          <p:cNvPr id="17" name="Shape 14"/>
          <p:cNvSpPr/>
          <p:nvPr/>
        </p:nvSpPr>
        <p:spPr>
          <a:xfrm>
            <a:off x="8412480" y="2834640"/>
            <a:ext cx="2743200" cy="365760"/>
          </a:xfrm>
          <a:prstGeom prst="roundRect">
            <a:avLst>
              <a:gd name="adj" fmla="val 12500"/>
            </a:avLst>
          </a:prstGeom>
          <a:solidFill>
            <a:srgbClr val="1B2130"/>
          </a:solidFill>
          <a:ln/>
        </p:spPr>
      </p:sp>
      <p:sp>
        <p:nvSpPr>
          <p:cNvPr id="18" name="Shape 15"/>
          <p:cNvSpPr/>
          <p:nvPr/>
        </p:nvSpPr>
        <p:spPr>
          <a:xfrm>
            <a:off x="8412480" y="3291840"/>
            <a:ext cx="2743200" cy="365760"/>
          </a:xfrm>
          <a:prstGeom prst="roundRect">
            <a:avLst>
              <a:gd name="adj" fmla="val 12500"/>
            </a:avLst>
          </a:prstGeom>
          <a:solidFill>
            <a:srgbClr val="1B2130"/>
          </a:solidFill>
          <a:ln/>
        </p:spPr>
      </p:sp>
      <p:sp>
        <p:nvSpPr>
          <p:cNvPr id="19" name="Shape 16"/>
          <p:cNvSpPr/>
          <p:nvPr/>
        </p:nvSpPr>
        <p:spPr>
          <a:xfrm>
            <a:off x="8412480" y="3749040"/>
            <a:ext cx="2743200" cy="365760"/>
          </a:xfrm>
          <a:prstGeom prst="roundRect">
            <a:avLst>
              <a:gd name="adj" fmla="val 12500"/>
            </a:avLst>
          </a:prstGeom>
          <a:solidFill>
            <a:srgbClr val="1B2130"/>
          </a:solidFill>
          <a:ln/>
        </p:spPr>
      </p:sp>
      <p:sp>
        <p:nvSpPr>
          <p:cNvPr id="20" name="Text 17"/>
          <p:cNvSpPr txBox="1"/>
          <p:nvPr/>
        </p:nvSpPr>
        <p:spPr>
          <a:xfrm>
            <a:off x="822960" y="4754880"/>
            <a:ext cx="10545775" cy="457200"/>
          </a:xfrm>
          <a:prstGeom prst="rect">
            <a:avLst/>
          </a:prstGeom>
          <a:noFill/>
          <a:ln/>
        </p:spPr>
        <p:txBody>
          <a:bodyPr wrap="square" rtlCol="0" anchor="ctr"/>
          <a:lstStyle/>
          <a:p>
            <a:pPr algn="ctr" indent="0" marL="0">
              <a:buNone/>
            </a:pPr>
            <a:r>
              <a:rPr lang="en-US" sz="1400" dirty="0">
                <a:solidFill>
                  <a:srgbClr val="C2C9D4"/>
                </a:solidFill>
                <a:latin typeface="Calibri" pitchFamily="34" charset="0"/>
                <a:ea typeface="Calibri" pitchFamily="34" charset="-122"/>
                <a:cs typeface="Calibri" pitchFamily="34" charset="-120"/>
              </a:rPr>
              <a:t>Un diagramme de Gantt détaille le planning de février à août 2026.</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De l’analyse à la priorisation</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User stories, priorisées avec la méthode MoSCoW</a:t>
            </a:r>
            <a:endParaRPr lang="en-US" sz="1500" dirty="0"/>
          </a:p>
        </p:txBody>
      </p:sp>
      <p:sp>
        <p:nvSpPr>
          <p:cNvPr id="5" name="Shape 2"/>
          <p:cNvSpPr/>
          <p:nvPr/>
        </p:nvSpPr>
        <p:spPr>
          <a:xfrm>
            <a:off x="1463040" y="2011680"/>
            <a:ext cx="9235440" cy="822960"/>
          </a:xfrm>
          <a:prstGeom prst="roundRect">
            <a:avLst>
              <a:gd name="adj" fmla="val 10000"/>
            </a:avLst>
          </a:prstGeom>
          <a:solidFill>
            <a:srgbClr val="232C3D"/>
          </a:solidFill>
          <a:ln/>
        </p:spPr>
      </p:sp>
      <p:sp>
        <p:nvSpPr>
          <p:cNvPr id="6" name="Text 3"/>
          <p:cNvSpPr txBox="1"/>
          <p:nvPr/>
        </p:nvSpPr>
        <p:spPr>
          <a:xfrm>
            <a:off x="1691640" y="210312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Must have</a:t>
            </a:r>
            <a:endParaRPr lang="en-US" sz="1500" dirty="0"/>
          </a:p>
        </p:txBody>
      </p:sp>
      <p:sp>
        <p:nvSpPr>
          <p:cNvPr id="7" name="Text 4"/>
          <p:cNvSpPr txBox="1"/>
          <p:nvPr/>
        </p:nvSpPr>
        <p:spPr>
          <a:xfrm>
            <a:off x="4114800" y="210312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Inscription, RDV, médicaments, rappels, journal, graphique, tableau de bord, sécurité</a:t>
            </a:r>
            <a:endParaRPr lang="en-US" sz="1300" dirty="0"/>
          </a:p>
        </p:txBody>
      </p:sp>
      <p:sp>
        <p:nvSpPr>
          <p:cNvPr id="8" name="Shape 5"/>
          <p:cNvSpPr/>
          <p:nvPr/>
        </p:nvSpPr>
        <p:spPr>
          <a:xfrm>
            <a:off x="1463040" y="2971800"/>
            <a:ext cx="9235440" cy="822960"/>
          </a:xfrm>
          <a:prstGeom prst="roundRect">
            <a:avLst>
              <a:gd name="adj" fmla="val 10000"/>
            </a:avLst>
          </a:prstGeom>
          <a:solidFill>
            <a:srgbClr val="232C3D"/>
          </a:solidFill>
          <a:ln/>
        </p:spPr>
      </p:sp>
      <p:sp>
        <p:nvSpPr>
          <p:cNvPr id="9" name="Text 6"/>
          <p:cNvSpPr txBox="1"/>
          <p:nvPr/>
        </p:nvSpPr>
        <p:spPr>
          <a:xfrm>
            <a:off x="1691640" y="306324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Should have</a:t>
            </a:r>
            <a:endParaRPr lang="en-US" sz="1500" dirty="0"/>
          </a:p>
        </p:txBody>
      </p:sp>
      <p:sp>
        <p:nvSpPr>
          <p:cNvPr id="10" name="Text 7"/>
          <p:cNvSpPr txBox="1"/>
          <p:nvPr/>
        </p:nvSpPr>
        <p:spPr>
          <a:xfrm>
            <a:off x="4114800" y="306324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Reset mot de passe, prises effectuées, catégories, profil</a:t>
            </a:r>
            <a:endParaRPr lang="en-US" sz="1300" dirty="0"/>
          </a:p>
        </p:txBody>
      </p:sp>
      <p:sp>
        <p:nvSpPr>
          <p:cNvPr id="11" name="Shape 8"/>
          <p:cNvSpPr/>
          <p:nvPr/>
        </p:nvSpPr>
        <p:spPr>
          <a:xfrm>
            <a:off x="1463040" y="3931920"/>
            <a:ext cx="9235440" cy="822960"/>
          </a:xfrm>
          <a:prstGeom prst="roundRect">
            <a:avLst>
              <a:gd name="adj" fmla="val 10000"/>
            </a:avLst>
          </a:prstGeom>
          <a:solidFill>
            <a:srgbClr val="232C3D"/>
          </a:solidFill>
          <a:ln/>
        </p:spPr>
      </p:sp>
      <p:sp>
        <p:nvSpPr>
          <p:cNvPr id="12" name="Text 9"/>
          <p:cNvSpPr txBox="1"/>
          <p:nvPr/>
        </p:nvSpPr>
        <p:spPr>
          <a:xfrm>
            <a:off x="1691640" y="402336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Could have</a:t>
            </a:r>
            <a:endParaRPr lang="en-US" sz="1500" dirty="0"/>
          </a:p>
        </p:txBody>
      </p:sp>
      <p:sp>
        <p:nvSpPr>
          <p:cNvPr id="13" name="Text 10"/>
          <p:cNvSpPr txBox="1"/>
          <p:nvPr/>
        </p:nvSpPr>
        <p:spPr>
          <a:xfrm>
            <a:off x="4114800" y="402336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Rappels automatisés, notifications RDV, export</a:t>
            </a:r>
            <a:endParaRPr lang="en-US" sz="1300" dirty="0"/>
          </a:p>
        </p:txBody>
      </p:sp>
      <p:sp>
        <p:nvSpPr>
          <p:cNvPr id="14" name="Shape 11"/>
          <p:cNvSpPr/>
          <p:nvPr/>
        </p:nvSpPr>
        <p:spPr>
          <a:xfrm>
            <a:off x="1463040" y="4892040"/>
            <a:ext cx="9235440" cy="822960"/>
          </a:xfrm>
          <a:prstGeom prst="roundRect">
            <a:avLst>
              <a:gd name="adj" fmla="val 10000"/>
            </a:avLst>
          </a:prstGeom>
          <a:solidFill>
            <a:srgbClr val="232C3D"/>
          </a:solidFill>
          <a:ln/>
        </p:spPr>
      </p:sp>
      <p:sp>
        <p:nvSpPr>
          <p:cNvPr id="15" name="Text 12"/>
          <p:cNvSpPr txBox="1"/>
          <p:nvPr/>
        </p:nvSpPr>
        <p:spPr>
          <a:xfrm>
            <a:off x="1691640" y="498348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Won’t (cette version)</a:t>
            </a:r>
            <a:endParaRPr lang="en-US" sz="1500" dirty="0"/>
          </a:p>
        </p:txBody>
      </p:sp>
      <p:sp>
        <p:nvSpPr>
          <p:cNvPr id="16" name="Text 13"/>
          <p:cNvSpPr txBox="1"/>
          <p:nvPr/>
        </p:nvSpPr>
        <p:spPr>
          <a:xfrm>
            <a:off x="4114800" y="498348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App mobile, notifications push, API publique, accès hors ligne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ARCHITECTURE TECHNIQUE EN COUCHES (MVC)</a:t>
            </a:r>
            <a:endParaRPr lang="en-US" sz="1300" dirty="0"/>
          </a:p>
        </p:txBody>
      </p:sp>
      <p:sp>
        <p:nvSpPr>
          <p:cNvPr id="4" name="Shape 1"/>
          <p:cNvSpPr/>
          <p:nvPr/>
        </p:nvSpPr>
        <p:spPr>
          <a:xfrm>
            <a:off x="822960" y="1543063"/>
            <a:ext cx="5669280" cy="4046194"/>
          </a:xfrm>
          <a:prstGeom prst="roundRect">
            <a:avLst>
              <a:gd name="adj" fmla="val 180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archi-parcours-sante.png">    </p:cNvPr>
          <p:cNvPicPr>
            <a:picLocks noChangeAspect="1"/>
          </p:cNvPicPr>
          <p:nvPr/>
        </p:nvPicPr>
        <p:blipFill>
          <a:blip r:embed="rId1"/>
          <a:stretch>
            <a:fillRect/>
          </a:stretch>
        </p:blipFill>
        <p:spPr>
          <a:xfrm>
            <a:off x="932688" y="1652791"/>
            <a:ext cx="5449824" cy="3826738"/>
          </a:xfrm>
          <a:prstGeom prst="rect">
            <a:avLst/>
          </a:prstGeom>
        </p:spPr>
      </p:pic>
      <p:sp>
        <p:nvSpPr>
          <p:cNvPr id="6" name="Text 2"/>
          <p:cNvSpPr txBox="1"/>
          <p:nvPr/>
        </p:nvSpPr>
        <p:spPr>
          <a:xfrm>
            <a:off x="6858000" y="1828800"/>
            <a:ext cx="4754880" cy="365760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Présentation : vues Twig, Tailwind, Chart.js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Contrôleur : reçoit la requête, coordonne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Métier : services &amp; commandes (rappels)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Accès aux données : repositories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Persistance : Doctrine ↔ MySQL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DES DONNÉES — MERISE</a:t>
            </a:r>
            <a:endParaRPr lang="en-US" sz="1300" dirty="0"/>
          </a:p>
        </p:txBody>
      </p:sp>
      <p:sp>
        <p:nvSpPr>
          <p:cNvPr id="4" name="Shape 1"/>
          <p:cNvSpPr/>
          <p:nvPr/>
        </p:nvSpPr>
        <p:spPr>
          <a:xfrm>
            <a:off x="2606966" y="1188720"/>
            <a:ext cx="6947588"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cd-parcours-sante.png">    </p:cNvPr>
          <p:cNvPicPr>
            <a:picLocks noChangeAspect="1"/>
          </p:cNvPicPr>
          <p:nvPr/>
        </p:nvPicPr>
        <p:blipFill>
          <a:blip r:embed="rId1"/>
          <a:stretch>
            <a:fillRect/>
          </a:stretch>
        </p:blipFill>
        <p:spPr>
          <a:xfrm>
            <a:off x="2716694" y="1298448"/>
            <a:ext cx="6728132"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Conceptuel de Données (MCD) — 7 entités et leurs associations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DU CONCEPTUEL AU PHYSIQUE — MLD &amp; MPD</a:t>
            </a:r>
            <a:endParaRPr lang="en-US" sz="1300" dirty="0"/>
          </a:p>
        </p:txBody>
      </p:sp>
      <p:sp>
        <p:nvSpPr>
          <p:cNvPr id="4" name="Shape 1"/>
          <p:cNvSpPr/>
          <p:nvPr/>
        </p:nvSpPr>
        <p:spPr>
          <a:xfrm>
            <a:off x="2718759" y="1188720"/>
            <a:ext cx="6724001"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pd-parcours-sante.png">    </p:cNvPr>
          <p:cNvPicPr>
            <a:picLocks noChangeAspect="1"/>
          </p:cNvPicPr>
          <p:nvPr/>
        </p:nvPicPr>
        <p:blipFill>
          <a:blip r:embed="rId1"/>
          <a:stretch>
            <a:fillRect/>
          </a:stretch>
        </p:blipFill>
        <p:spPr>
          <a:xfrm>
            <a:off x="2828487" y="1298448"/>
            <a:ext cx="6504545"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Physique de Données (MPD) — tables, types SQL et clés, prêtes pour MySQL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CAS D’UTILISATION</a:t>
            </a:r>
            <a:endParaRPr lang="en-US" sz="1300" dirty="0"/>
          </a:p>
        </p:txBody>
      </p:sp>
      <p:sp>
        <p:nvSpPr>
          <p:cNvPr id="4" name="Shape 1"/>
          <p:cNvSpPr/>
          <p:nvPr/>
        </p:nvSpPr>
        <p:spPr>
          <a:xfrm>
            <a:off x="2688506" y="1234440"/>
            <a:ext cx="6784508" cy="4754880"/>
          </a:xfrm>
          <a:prstGeom prst="roundRect">
            <a:avLst>
              <a:gd name="adj" fmla="val 153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uc-parcours-sante.png">    </p:cNvPr>
          <p:cNvPicPr>
            <a:picLocks noChangeAspect="1"/>
          </p:cNvPicPr>
          <p:nvPr/>
        </p:nvPicPr>
        <p:blipFill>
          <a:blip r:embed="rId1"/>
          <a:stretch>
            <a:fillRect/>
          </a:stretch>
        </p:blipFill>
        <p:spPr>
          <a:xfrm>
            <a:off x="2798234" y="1344168"/>
            <a:ext cx="6565052" cy="45354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CLASSES &amp; SÉQUENCE</a:t>
            </a:r>
            <a:endParaRPr lang="en-US" sz="1300" dirty="0"/>
          </a:p>
        </p:txBody>
      </p:sp>
      <p:sp>
        <p:nvSpPr>
          <p:cNvPr id="4" name="Shape 1"/>
          <p:cNvSpPr/>
          <p:nvPr/>
        </p:nvSpPr>
        <p:spPr>
          <a:xfrm>
            <a:off x="640080" y="1669071"/>
            <a:ext cx="5486400" cy="3794179"/>
          </a:xfrm>
          <a:prstGeom prst="roundRect">
            <a:avLst>
              <a:gd name="adj" fmla="val 192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classes-parcours-sante.png">    </p:cNvPr>
          <p:cNvPicPr>
            <a:picLocks noChangeAspect="1"/>
          </p:cNvPicPr>
          <p:nvPr/>
        </p:nvPicPr>
        <p:blipFill>
          <a:blip r:embed="rId1"/>
          <a:stretch>
            <a:fillRect/>
          </a:stretch>
        </p:blipFill>
        <p:spPr>
          <a:xfrm>
            <a:off x="749808" y="1778799"/>
            <a:ext cx="5266944" cy="3574723"/>
          </a:xfrm>
          <a:prstGeom prst="rect">
            <a:avLst/>
          </a:prstGeom>
        </p:spPr>
      </p:pic>
      <p:sp>
        <p:nvSpPr>
          <p:cNvPr id="6" name="Shape 2"/>
          <p:cNvSpPr/>
          <p:nvPr/>
        </p:nvSpPr>
        <p:spPr>
          <a:xfrm>
            <a:off x="6126480" y="1805287"/>
            <a:ext cx="5486400" cy="3521746"/>
          </a:xfrm>
          <a:prstGeom prst="roundRect">
            <a:avLst>
              <a:gd name="adj" fmla="val 2077"/>
            </a:avLst>
          </a:prstGeom>
          <a:solidFill>
            <a:srgbClr val="FFFFFF"/>
          </a:solidFill>
          <a:ln/>
          <a:effectLst>
            <a:outerShdw sx="100000" sy="100000" kx="0" ky="0" algn="bl" rotWithShape="0" blurRad="127000" dist="38100" dir="5400000">
              <a:srgbClr val="000000">
                <a:alpha val="35000"/>
              </a:srgbClr>
            </a:outerShdw>
          </a:effectLst>
        </p:spPr>
      </p:sp>
      <p:pic>
        <p:nvPicPr>
          <p:cNvPr id="7" name="Image 1" descr="/home/claude/parcours-sante-livrables/seq-ajout-medicament.png">    </p:cNvPr>
          <p:cNvPicPr>
            <a:picLocks noChangeAspect="1"/>
          </p:cNvPicPr>
          <p:nvPr/>
        </p:nvPicPr>
        <p:blipFill>
          <a:blip r:embed="rId2"/>
          <a:stretch>
            <a:fillRect/>
          </a:stretch>
        </p:blipFill>
        <p:spPr>
          <a:xfrm>
            <a:off x="6236208" y="1915015"/>
            <a:ext cx="5266944" cy="3302290"/>
          </a:xfrm>
          <a:prstGeom prst="rect">
            <a:avLst/>
          </a:prstGeom>
        </p:spPr>
      </p:pic>
      <p:sp>
        <p:nvSpPr>
          <p:cNvPr id="8" name="Text 3"/>
          <p:cNvSpPr txBox="1"/>
          <p:nvPr/>
        </p:nvSpPr>
        <p:spPr>
          <a:xfrm>
            <a:off x="822960" y="589788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Diagramme de classes (à gauche) et de séquence « ajouter un médicament » (à droite)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Choix technologiques</a:t>
            </a:r>
            <a:endParaRPr lang="en-US" sz="3200" dirty="0"/>
          </a:p>
        </p:txBody>
      </p:sp>
      <p:sp>
        <p:nvSpPr>
          <p:cNvPr id="4" name="Shape 1"/>
          <p:cNvSpPr/>
          <p:nvPr/>
        </p:nvSpPr>
        <p:spPr>
          <a:xfrm>
            <a:off x="685800" y="1828800"/>
            <a:ext cx="2514600" cy="1417320"/>
          </a:xfrm>
          <a:prstGeom prst="roundRect">
            <a:avLst>
              <a:gd name="adj" fmla="val 5806"/>
            </a:avLst>
          </a:prstGeom>
          <a:solidFill>
            <a:srgbClr val="232C3D"/>
          </a:solidFill>
          <a:ln/>
        </p:spPr>
      </p:sp>
      <p:sp>
        <p:nvSpPr>
          <p:cNvPr id="5" name="Text 2"/>
          <p:cNvSpPr txBox="1"/>
          <p:nvPr/>
        </p:nvSpPr>
        <p:spPr>
          <a:xfrm>
            <a:off x="86868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Symfony 7.4</a:t>
            </a:r>
            <a:endParaRPr lang="en-US" sz="1600" dirty="0"/>
          </a:p>
        </p:txBody>
      </p:sp>
      <p:sp>
        <p:nvSpPr>
          <p:cNvPr id="6" name="Text 3"/>
          <p:cNvSpPr txBox="1"/>
          <p:nvPr/>
        </p:nvSpPr>
        <p:spPr>
          <a:xfrm>
            <a:off x="86868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Framework serveur</a:t>
            </a:r>
            <a:endParaRPr lang="en-US" sz="1200" dirty="0"/>
          </a:p>
        </p:txBody>
      </p:sp>
      <p:sp>
        <p:nvSpPr>
          <p:cNvPr id="7" name="Shape 4"/>
          <p:cNvSpPr/>
          <p:nvPr/>
        </p:nvSpPr>
        <p:spPr>
          <a:xfrm>
            <a:off x="3474720" y="1828800"/>
            <a:ext cx="2514600" cy="1417320"/>
          </a:xfrm>
          <a:prstGeom prst="roundRect">
            <a:avLst>
              <a:gd name="adj" fmla="val 5806"/>
            </a:avLst>
          </a:prstGeom>
          <a:solidFill>
            <a:srgbClr val="232C3D"/>
          </a:solidFill>
          <a:ln/>
        </p:spPr>
      </p:sp>
      <p:sp>
        <p:nvSpPr>
          <p:cNvPr id="8" name="Text 5"/>
          <p:cNvSpPr txBox="1"/>
          <p:nvPr/>
        </p:nvSpPr>
        <p:spPr>
          <a:xfrm>
            <a:off x="365760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PHP 8.2</a:t>
            </a:r>
            <a:endParaRPr lang="en-US" sz="1600" dirty="0"/>
          </a:p>
        </p:txBody>
      </p:sp>
      <p:sp>
        <p:nvSpPr>
          <p:cNvPr id="9" name="Text 6"/>
          <p:cNvSpPr txBox="1"/>
          <p:nvPr/>
        </p:nvSpPr>
        <p:spPr>
          <a:xfrm>
            <a:off x="365760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Langage</a:t>
            </a:r>
            <a:endParaRPr lang="en-US" sz="1200" dirty="0"/>
          </a:p>
        </p:txBody>
      </p:sp>
      <p:sp>
        <p:nvSpPr>
          <p:cNvPr id="10" name="Shape 7"/>
          <p:cNvSpPr/>
          <p:nvPr/>
        </p:nvSpPr>
        <p:spPr>
          <a:xfrm>
            <a:off x="6263640" y="1828800"/>
            <a:ext cx="2514600" cy="1417320"/>
          </a:xfrm>
          <a:prstGeom prst="roundRect">
            <a:avLst>
              <a:gd name="adj" fmla="val 5806"/>
            </a:avLst>
          </a:prstGeom>
          <a:solidFill>
            <a:srgbClr val="232C3D"/>
          </a:solidFill>
          <a:ln/>
        </p:spPr>
      </p:sp>
      <p:sp>
        <p:nvSpPr>
          <p:cNvPr id="11" name="Text 8"/>
          <p:cNvSpPr txBox="1"/>
          <p:nvPr/>
        </p:nvSpPr>
        <p:spPr>
          <a:xfrm>
            <a:off x="644652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Twig</a:t>
            </a:r>
            <a:endParaRPr lang="en-US" sz="1600" dirty="0"/>
          </a:p>
        </p:txBody>
      </p:sp>
      <p:sp>
        <p:nvSpPr>
          <p:cNvPr id="12" name="Text 9"/>
          <p:cNvSpPr txBox="1"/>
          <p:nvPr/>
        </p:nvSpPr>
        <p:spPr>
          <a:xfrm>
            <a:off x="644652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Moteur de vues</a:t>
            </a:r>
            <a:endParaRPr lang="en-US" sz="1200" dirty="0"/>
          </a:p>
        </p:txBody>
      </p:sp>
      <p:sp>
        <p:nvSpPr>
          <p:cNvPr id="13" name="Shape 10"/>
          <p:cNvSpPr/>
          <p:nvPr/>
        </p:nvSpPr>
        <p:spPr>
          <a:xfrm>
            <a:off x="9052560" y="1828800"/>
            <a:ext cx="2514600" cy="1417320"/>
          </a:xfrm>
          <a:prstGeom prst="roundRect">
            <a:avLst>
              <a:gd name="adj" fmla="val 5806"/>
            </a:avLst>
          </a:prstGeom>
          <a:solidFill>
            <a:srgbClr val="232C3D"/>
          </a:solidFill>
          <a:ln/>
        </p:spPr>
      </p:sp>
      <p:sp>
        <p:nvSpPr>
          <p:cNvPr id="14" name="Text 11"/>
          <p:cNvSpPr txBox="1"/>
          <p:nvPr/>
        </p:nvSpPr>
        <p:spPr>
          <a:xfrm>
            <a:off x="923544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Tailwind CSS</a:t>
            </a:r>
            <a:endParaRPr lang="en-US" sz="1600" dirty="0"/>
          </a:p>
        </p:txBody>
      </p:sp>
      <p:sp>
        <p:nvSpPr>
          <p:cNvPr id="15" name="Text 12"/>
          <p:cNvSpPr txBox="1"/>
          <p:nvPr/>
        </p:nvSpPr>
        <p:spPr>
          <a:xfrm>
            <a:off x="923544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Interface</a:t>
            </a:r>
            <a:endParaRPr lang="en-US" sz="1200" dirty="0"/>
          </a:p>
        </p:txBody>
      </p:sp>
      <p:sp>
        <p:nvSpPr>
          <p:cNvPr id="16" name="Shape 13"/>
          <p:cNvSpPr/>
          <p:nvPr/>
        </p:nvSpPr>
        <p:spPr>
          <a:xfrm>
            <a:off x="685800" y="3566160"/>
            <a:ext cx="2514600" cy="1417320"/>
          </a:xfrm>
          <a:prstGeom prst="roundRect">
            <a:avLst>
              <a:gd name="adj" fmla="val 5806"/>
            </a:avLst>
          </a:prstGeom>
          <a:solidFill>
            <a:srgbClr val="232C3D"/>
          </a:solidFill>
          <a:ln/>
        </p:spPr>
      </p:sp>
      <p:sp>
        <p:nvSpPr>
          <p:cNvPr id="17" name="Text 14"/>
          <p:cNvSpPr txBox="1"/>
          <p:nvPr/>
        </p:nvSpPr>
        <p:spPr>
          <a:xfrm>
            <a:off x="86868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Chart.js</a:t>
            </a:r>
            <a:endParaRPr lang="en-US" sz="1600" dirty="0"/>
          </a:p>
        </p:txBody>
      </p:sp>
      <p:sp>
        <p:nvSpPr>
          <p:cNvPr id="18" name="Text 15"/>
          <p:cNvSpPr txBox="1"/>
          <p:nvPr/>
        </p:nvSpPr>
        <p:spPr>
          <a:xfrm>
            <a:off x="86868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Graphiques</a:t>
            </a:r>
            <a:endParaRPr lang="en-US" sz="1200" dirty="0"/>
          </a:p>
        </p:txBody>
      </p:sp>
      <p:sp>
        <p:nvSpPr>
          <p:cNvPr id="19" name="Shape 16"/>
          <p:cNvSpPr/>
          <p:nvPr/>
        </p:nvSpPr>
        <p:spPr>
          <a:xfrm>
            <a:off x="3474720" y="3566160"/>
            <a:ext cx="2514600" cy="1417320"/>
          </a:xfrm>
          <a:prstGeom prst="roundRect">
            <a:avLst>
              <a:gd name="adj" fmla="val 5806"/>
            </a:avLst>
          </a:prstGeom>
          <a:solidFill>
            <a:srgbClr val="232C3D"/>
          </a:solidFill>
          <a:ln/>
        </p:spPr>
      </p:sp>
      <p:sp>
        <p:nvSpPr>
          <p:cNvPr id="20" name="Text 17"/>
          <p:cNvSpPr txBox="1"/>
          <p:nvPr/>
        </p:nvSpPr>
        <p:spPr>
          <a:xfrm>
            <a:off x="365760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MySQL + Doctrine</a:t>
            </a:r>
            <a:endParaRPr lang="en-US" sz="1600" dirty="0"/>
          </a:p>
        </p:txBody>
      </p:sp>
      <p:sp>
        <p:nvSpPr>
          <p:cNvPr id="21" name="Text 18"/>
          <p:cNvSpPr txBox="1"/>
          <p:nvPr/>
        </p:nvSpPr>
        <p:spPr>
          <a:xfrm>
            <a:off x="365760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Base &amp; ORM</a:t>
            </a:r>
            <a:endParaRPr lang="en-US" sz="1200" dirty="0"/>
          </a:p>
        </p:txBody>
      </p:sp>
      <p:sp>
        <p:nvSpPr>
          <p:cNvPr id="22" name="Shape 19"/>
          <p:cNvSpPr/>
          <p:nvPr/>
        </p:nvSpPr>
        <p:spPr>
          <a:xfrm>
            <a:off x="6263640" y="3566160"/>
            <a:ext cx="2514600" cy="1417320"/>
          </a:xfrm>
          <a:prstGeom prst="roundRect">
            <a:avLst>
              <a:gd name="adj" fmla="val 5806"/>
            </a:avLst>
          </a:prstGeom>
          <a:solidFill>
            <a:srgbClr val="232C3D"/>
          </a:solidFill>
          <a:ln/>
        </p:spPr>
      </p:sp>
      <p:sp>
        <p:nvSpPr>
          <p:cNvPr id="23" name="Text 20"/>
          <p:cNvSpPr txBox="1"/>
          <p:nvPr/>
        </p:nvSpPr>
        <p:spPr>
          <a:xfrm>
            <a:off x="644652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WAMP</a:t>
            </a:r>
            <a:endParaRPr lang="en-US" sz="1600" dirty="0"/>
          </a:p>
        </p:txBody>
      </p:sp>
      <p:sp>
        <p:nvSpPr>
          <p:cNvPr id="24" name="Text 21"/>
          <p:cNvSpPr txBox="1"/>
          <p:nvPr/>
        </p:nvSpPr>
        <p:spPr>
          <a:xfrm>
            <a:off x="644652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Environnement local</a:t>
            </a:r>
            <a:endParaRPr lang="en-US" sz="1200" dirty="0"/>
          </a:p>
        </p:txBody>
      </p:sp>
      <p:sp>
        <p:nvSpPr>
          <p:cNvPr id="25" name="Shape 22"/>
          <p:cNvSpPr/>
          <p:nvPr/>
        </p:nvSpPr>
        <p:spPr>
          <a:xfrm>
            <a:off x="9052560" y="3566160"/>
            <a:ext cx="2514600" cy="1417320"/>
          </a:xfrm>
          <a:prstGeom prst="roundRect">
            <a:avLst>
              <a:gd name="adj" fmla="val 5806"/>
            </a:avLst>
          </a:prstGeom>
          <a:solidFill>
            <a:srgbClr val="232C3D"/>
          </a:solidFill>
          <a:ln/>
        </p:spPr>
      </p:sp>
      <p:sp>
        <p:nvSpPr>
          <p:cNvPr id="26" name="Text 23"/>
          <p:cNvSpPr txBox="1"/>
          <p:nvPr/>
        </p:nvSpPr>
        <p:spPr>
          <a:xfrm>
            <a:off x="923544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Git</a:t>
            </a:r>
            <a:endParaRPr lang="en-US" sz="1600" dirty="0"/>
          </a:p>
        </p:txBody>
      </p:sp>
      <p:sp>
        <p:nvSpPr>
          <p:cNvPr id="27" name="Text 24"/>
          <p:cNvSpPr txBox="1"/>
          <p:nvPr/>
        </p:nvSpPr>
        <p:spPr>
          <a:xfrm>
            <a:off x="923544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Versionnement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Deux fonctionnalités en détail</a:t>
            </a:r>
            <a:endParaRPr lang="en-US" sz="44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Les rappels de médicament &amp; le journal des symptômes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1 — LES RAPPELS DE MÉDICAMENT</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Une commande console Symfony lit les prises non effectuées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retrouve le médicament et le patient</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envoie un email de rappel via Symfony Mailer (Mailtrap)</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Lancée manuellement pour démontrer ; automatisation prévue</a:t>
            </a:r>
            <a:endParaRPr lang="en-US" sz="1600" dirty="0"/>
          </a:p>
        </p:txBody>
      </p:sp>
      <p:sp>
        <p:nvSpPr>
          <p:cNvPr id="5" name="Shape 2"/>
          <p:cNvSpPr/>
          <p:nvPr/>
        </p:nvSpPr>
        <p:spPr>
          <a:xfrm>
            <a:off x="5943600" y="1914315"/>
            <a:ext cx="5669280" cy="3486570"/>
          </a:xfrm>
          <a:prstGeom prst="roundRect">
            <a:avLst>
              <a:gd name="adj" fmla="val 2098"/>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mermaid/1-seq-rappel.png">    </p:cNvPr>
          <p:cNvPicPr>
            <a:picLocks noChangeAspect="1"/>
          </p:cNvPicPr>
          <p:nvPr/>
        </p:nvPicPr>
        <p:blipFill>
          <a:blip r:embed="rId1"/>
          <a:stretch>
            <a:fillRect/>
          </a:stretch>
        </p:blipFill>
        <p:spPr>
          <a:xfrm>
            <a:off x="6053328" y="2024043"/>
            <a:ext cx="5449824" cy="326711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2 — LE JOURNAL &amp; LE GRAPHIQUE</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patient note son symptôme, l’intensité (1-10) et une remarque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serveur fournit les données, injectées par Twig</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Chart.js dessine la courbe côté navigateur</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Objectif : aider le dialogue avec l’équipe soignante</a:t>
            </a:r>
            <a:endParaRPr lang="en-US" sz="1600" dirty="0"/>
          </a:p>
        </p:txBody>
      </p:sp>
      <p:sp>
        <p:nvSpPr>
          <p:cNvPr id="5" name="Shape 2"/>
          <p:cNvSpPr/>
          <p:nvPr/>
        </p:nvSpPr>
        <p:spPr>
          <a:xfrm>
            <a:off x="6400852" y="1325880"/>
            <a:ext cx="4754776" cy="4663440"/>
          </a:xfrm>
          <a:prstGeom prst="roundRect">
            <a:avLst>
              <a:gd name="adj" fmla="val 1569"/>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shots/06-journal.png">    </p:cNvPr>
          <p:cNvPicPr>
            <a:picLocks noChangeAspect="1"/>
          </p:cNvPicPr>
          <p:nvPr/>
        </p:nvPicPr>
        <p:blipFill>
          <a:blip r:embed="rId1"/>
          <a:stretch>
            <a:fillRect/>
          </a:stretch>
        </p:blipFill>
        <p:spPr>
          <a:xfrm>
            <a:off x="6510580" y="1435608"/>
            <a:ext cx="4535320" cy="444398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SÉCURITÉ &amp; DONNÉES DE SANTÉ</a:t>
            </a:r>
            <a:endParaRPr lang="en-US" sz="1300" dirty="0"/>
          </a:p>
        </p:txBody>
      </p:sp>
      <p:sp>
        <p:nvSpPr>
          <p:cNvPr id="4" name="Shape 1"/>
          <p:cNvSpPr/>
          <p:nvPr/>
        </p:nvSpPr>
        <p:spPr>
          <a:xfrm>
            <a:off x="1188720" y="1737360"/>
            <a:ext cx="4572000" cy="1691640"/>
          </a:xfrm>
          <a:prstGeom prst="roundRect">
            <a:avLst>
              <a:gd name="adj" fmla="val 4865"/>
            </a:avLst>
          </a:prstGeom>
          <a:solidFill>
            <a:srgbClr val="232C3D"/>
          </a:solidFill>
          <a:ln/>
        </p:spPr>
      </p:sp>
      <p:sp>
        <p:nvSpPr>
          <p:cNvPr id="5" name="Text 2"/>
          <p:cNvSpPr txBox="1"/>
          <p:nvPr/>
        </p:nvSpPr>
        <p:spPr>
          <a:xfrm>
            <a:off x="150876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Mots de passe hachés</a:t>
            </a:r>
            <a:endParaRPr lang="en-US" sz="1700" dirty="0"/>
          </a:p>
        </p:txBody>
      </p:sp>
      <p:sp>
        <p:nvSpPr>
          <p:cNvPr id="6" name="Text 3"/>
          <p:cNvSpPr txBox="1"/>
          <p:nvPr/>
        </p:nvSpPr>
        <p:spPr>
          <a:xfrm>
            <a:off x="150876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Composant Security de Symfony (bcrypt), irréversible</a:t>
            </a:r>
            <a:endParaRPr lang="en-US" sz="1350" dirty="0"/>
          </a:p>
        </p:txBody>
      </p:sp>
      <p:sp>
        <p:nvSpPr>
          <p:cNvPr id="7" name="Shape 4"/>
          <p:cNvSpPr/>
          <p:nvPr/>
        </p:nvSpPr>
        <p:spPr>
          <a:xfrm>
            <a:off x="6126480" y="1737360"/>
            <a:ext cx="4572000" cy="1691640"/>
          </a:xfrm>
          <a:prstGeom prst="roundRect">
            <a:avLst>
              <a:gd name="adj" fmla="val 4865"/>
            </a:avLst>
          </a:prstGeom>
          <a:solidFill>
            <a:srgbClr val="232C3D"/>
          </a:solidFill>
          <a:ln/>
        </p:spPr>
      </p:sp>
      <p:sp>
        <p:nvSpPr>
          <p:cNvPr id="8" name="Text 5"/>
          <p:cNvSpPr txBox="1"/>
          <p:nvPr/>
        </p:nvSpPr>
        <p:spPr>
          <a:xfrm>
            <a:off x="644652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Contrôle d’accès</a:t>
            </a:r>
            <a:endParaRPr lang="en-US" sz="1700" dirty="0"/>
          </a:p>
        </p:txBody>
      </p:sp>
      <p:sp>
        <p:nvSpPr>
          <p:cNvPr id="9" name="Text 6"/>
          <p:cNvSpPr txBox="1"/>
          <p:nvPr/>
        </p:nvSpPr>
        <p:spPr>
          <a:xfrm>
            <a:off x="644652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Chaque patient n’accède qu’à ses propres données</a:t>
            </a:r>
            <a:endParaRPr lang="en-US" sz="1350" dirty="0"/>
          </a:p>
        </p:txBody>
      </p:sp>
      <p:sp>
        <p:nvSpPr>
          <p:cNvPr id="10" name="Shape 7"/>
          <p:cNvSpPr/>
          <p:nvPr/>
        </p:nvSpPr>
        <p:spPr>
          <a:xfrm>
            <a:off x="1188720" y="3703320"/>
            <a:ext cx="4572000" cy="1691640"/>
          </a:xfrm>
          <a:prstGeom prst="roundRect">
            <a:avLst>
              <a:gd name="adj" fmla="val 4865"/>
            </a:avLst>
          </a:prstGeom>
          <a:solidFill>
            <a:srgbClr val="232C3D"/>
          </a:solidFill>
          <a:ln/>
        </p:spPr>
      </p:sp>
      <p:sp>
        <p:nvSpPr>
          <p:cNvPr id="11" name="Text 8"/>
          <p:cNvSpPr txBox="1"/>
          <p:nvPr/>
        </p:nvSpPr>
        <p:spPr>
          <a:xfrm>
            <a:off x="150876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Protection CSRF</a:t>
            </a:r>
            <a:endParaRPr lang="en-US" sz="1700" dirty="0"/>
          </a:p>
        </p:txBody>
      </p:sp>
      <p:sp>
        <p:nvSpPr>
          <p:cNvPr id="12" name="Text 9"/>
          <p:cNvSpPr txBox="1"/>
          <p:nvPr/>
        </p:nvSpPr>
        <p:spPr>
          <a:xfrm>
            <a:off x="150876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Jeton sur chaque formulaire</a:t>
            </a:r>
            <a:endParaRPr lang="en-US" sz="1350" dirty="0"/>
          </a:p>
        </p:txBody>
      </p:sp>
      <p:sp>
        <p:nvSpPr>
          <p:cNvPr id="13" name="Shape 10"/>
          <p:cNvSpPr/>
          <p:nvPr/>
        </p:nvSpPr>
        <p:spPr>
          <a:xfrm>
            <a:off x="6126480" y="3703320"/>
            <a:ext cx="4572000" cy="1691640"/>
          </a:xfrm>
          <a:prstGeom prst="roundRect">
            <a:avLst>
              <a:gd name="adj" fmla="val 4865"/>
            </a:avLst>
          </a:prstGeom>
          <a:solidFill>
            <a:srgbClr val="232C3D"/>
          </a:solidFill>
          <a:ln/>
        </p:spPr>
      </p:sp>
      <p:sp>
        <p:nvSpPr>
          <p:cNvPr id="14" name="Text 11"/>
          <p:cNvSpPr txBox="1"/>
          <p:nvPr/>
        </p:nvSpPr>
        <p:spPr>
          <a:xfrm>
            <a:off x="644652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RGPD</a:t>
            </a:r>
            <a:endParaRPr lang="en-US" sz="1700" dirty="0"/>
          </a:p>
        </p:txBody>
      </p:sp>
      <p:sp>
        <p:nvSpPr>
          <p:cNvPr id="15" name="Text 12"/>
          <p:cNvSpPr txBox="1"/>
          <p:nvPr/>
        </p:nvSpPr>
        <p:spPr>
          <a:xfrm>
            <a:off x="644652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Minimisation des données, HTTPS en production</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TESTS &amp; QUALITÉ</a:t>
            </a:r>
            <a:endParaRPr lang="en-US" sz="1300" dirty="0"/>
          </a:p>
        </p:txBody>
      </p:sp>
      <p:sp>
        <p:nvSpPr>
          <p:cNvPr id="4" name="Text 1"/>
          <p:cNvSpPr txBox="1"/>
          <p:nvPr/>
        </p:nvSpPr>
        <p:spPr>
          <a:xfrm>
            <a:off x="822960" y="1280160"/>
            <a:ext cx="10515600" cy="54864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OK — 7 tests, 8 assertions</a:t>
            </a:r>
            <a:endParaRPr lang="en-US" sz="2200" dirty="0"/>
          </a:p>
        </p:txBody>
      </p:sp>
      <p:sp>
        <p:nvSpPr>
          <p:cNvPr id="5" name="Shape 2"/>
          <p:cNvSpPr/>
          <p:nvPr/>
        </p:nvSpPr>
        <p:spPr>
          <a:xfrm>
            <a:off x="2377440" y="2212337"/>
            <a:ext cx="7406640" cy="1976125"/>
          </a:xfrm>
          <a:prstGeom prst="roundRect">
            <a:avLst>
              <a:gd name="adj" fmla="val 3702"/>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tests-resultat.png">    </p:cNvPr>
          <p:cNvPicPr>
            <a:picLocks noChangeAspect="1"/>
          </p:cNvPicPr>
          <p:nvPr/>
        </p:nvPicPr>
        <p:blipFill>
          <a:blip r:embed="rId1"/>
          <a:stretch>
            <a:fillRect/>
          </a:stretch>
        </p:blipFill>
        <p:spPr>
          <a:xfrm>
            <a:off x="2487168" y="2322065"/>
            <a:ext cx="7187184" cy="1756669"/>
          </a:xfrm>
          <a:prstGeom prst="rect">
            <a:avLst/>
          </a:prstGeom>
        </p:spPr>
      </p:pic>
      <p:sp>
        <p:nvSpPr>
          <p:cNvPr id="7" name="Text 3"/>
          <p:cNvSpPr txBox="1"/>
          <p:nvPr/>
        </p:nvSpPr>
        <p:spPr>
          <a:xfrm>
            <a:off x="2377440" y="4754880"/>
            <a:ext cx="7406640" cy="1005840"/>
          </a:xfrm>
          <a:prstGeom prst="rect">
            <a:avLst/>
          </a:prstGeom>
          <a:noFill/>
          <a:ln/>
        </p:spPr>
        <p:txBody>
          <a:bodyPr wrap="square" rtlCol="0" anchor="t"/>
          <a:lstStyle/>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unitaires PHPUnit sur la logique métier (isActif d’un médicament)</a:t>
            </a:r>
            <a:endParaRPr lang="en-US" sz="1400" dirty="0"/>
          </a:p>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fonctionnels : axe d’amélioration identifié</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DÉPLOIEMENT</a:t>
            </a:r>
            <a:endParaRPr lang="en-US" sz="1300" dirty="0"/>
          </a:p>
        </p:txBody>
      </p:sp>
      <p:sp>
        <p:nvSpPr>
          <p:cNvPr id="4" name="Shape 1"/>
          <p:cNvSpPr/>
          <p:nvPr/>
        </p:nvSpPr>
        <p:spPr>
          <a:xfrm>
            <a:off x="3108960" y="1849775"/>
            <a:ext cx="5943600" cy="1878290"/>
          </a:xfrm>
          <a:prstGeom prst="roundRect">
            <a:avLst>
              <a:gd name="adj" fmla="val 3895"/>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5-deploiement.png">    </p:cNvPr>
          <p:cNvPicPr>
            <a:picLocks noChangeAspect="1"/>
          </p:cNvPicPr>
          <p:nvPr/>
        </p:nvPicPr>
        <p:blipFill>
          <a:blip r:embed="rId1"/>
          <a:stretch>
            <a:fillRect/>
          </a:stretch>
        </p:blipFill>
        <p:spPr>
          <a:xfrm>
            <a:off x="3218688" y="1959503"/>
            <a:ext cx="5724144" cy="1658834"/>
          </a:xfrm>
          <a:prstGeom prst="rect">
            <a:avLst/>
          </a:prstGeom>
        </p:spPr>
      </p:pic>
      <p:sp>
        <p:nvSpPr>
          <p:cNvPr id="6" name="Text 2"/>
          <p:cNvSpPr txBox="1"/>
          <p:nvPr/>
        </p:nvSpPr>
        <p:spPr>
          <a:xfrm>
            <a:off x="1371600" y="4663440"/>
            <a:ext cx="9418320" cy="1737360"/>
          </a:xfrm>
          <a:prstGeom prst="rect">
            <a:avLst/>
          </a:prstGeom>
          <a:noFill/>
          <a:ln/>
        </p:spPr>
        <p:txBody>
          <a:bodyPr wrap="square" rtlCol="0" anchor="t"/>
          <a:lstStyle/>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Aujourd’hui : environnement local WAMP, code versionné avec Git</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Mise en production : procédure reproductible + migrations Doctrine + HTTPS</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Perspectives : conteneurisation Docker et intégration continue (CI/CD)</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UN PROJET ANCRÉ DANS UNE INSTITUTION DE SOIN</a:t>
            </a:r>
            <a:endParaRPr lang="en-US" sz="1300" dirty="0"/>
          </a:p>
        </p:txBody>
      </p:sp>
      <p:sp>
        <p:nvSpPr>
          <p:cNvPr id="4" name="Text 1"/>
          <p:cNvSpPr txBox="1"/>
          <p:nvPr/>
        </p:nvSpPr>
        <p:spPr>
          <a:xfrm>
            <a:off x="1463040" y="2011680"/>
            <a:ext cx="9235440" cy="1828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 Présenté au service informatique du Centre Léon Bérard — où je suis soigné — le projet a suscité l’intérêt de l’équipe, qui envisage de le reprendre et de l’adapter. »</a:t>
            </a:r>
            <a:endParaRPr lang="en-US" sz="2200" dirty="0"/>
          </a:p>
        </p:txBody>
      </p:sp>
      <p:sp>
        <p:nvSpPr>
          <p:cNvPr id="5" name="Text 2"/>
          <p:cNvSpPr txBox="1"/>
          <p:nvPr/>
        </p:nvSpPr>
        <p:spPr>
          <a:xfrm>
            <a:off x="2011680" y="4297680"/>
            <a:ext cx="8138160" cy="54864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Une collaboration bénévole, née de ma situation de patient.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Difficultés rencontrées</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le projet seul, en autonomie complète, en parallèle d’un traitement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Modéliser proprement les données et faire évoluer la base sans casser l’existant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des problèmes techniques concrets et non anticipés (ex. cycle de vie de Turbo pour le graphique)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Garder le cap sur les fonctionnalités qui apportent le plus de valeur</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Ce que ce projet m’a apporté</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Concevoir à partir d’un vrai besoin, validé par des utilisateurs — pas d’un cahier des charges théorique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un projet complet, seul, de l’idée à la préparation de la mise en production</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en autonomie des problèmes techniques concrets et non anticipés</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Relier un besoin humain réel à une solution technique</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640080"/>
            <a:ext cx="10545775" cy="91440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Perspectives</a:t>
            </a:r>
            <a:endParaRPr lang="en-US" sz="3400" dirty="0"/>
          </a:p>
        </p:txBody>
      </p:sp>
      <p:sp>
        <p:nvSpPr>
          <p:cNvPr id="4" name="Shape 1"/>
          <p:cNvSpPr/>
          <p:nvPr/>
        </p:nvSpPr>
        <p:spPr>
          <a:xfrm>
            <a:off x="1828800" y="1856232"/>
            <a:ext cx="256032" cy="256032"/>
          </a:xfrm>
          <a:prstGeom prst="ellipse">
            <a:avLst/>
          </a:prstGeom>
          <a:solidFill>
            <a:srgbClr val="84B497"/>
          </a:solidFill>
          <a:ln/>
        </p:spPr>
      </p:sp>
      <p:sp>
        <p:nvSpPr>
          <p:cNvPr id="5" name="Text 2"/>
          <p:cNvSpPr txBox="1"/>
          <p:nvPr/>
        </p:nvSpPr>
        <p:spPr>
          <a:xfrm>
            <a:off x="2286000" y="1737360"/>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Développer l’application mobile, en réutilisant la base et la logique via une API</a:t>
            </a:r>
            <a:endParaRPr lang="en-US" sz="1600" dirty="0"/>
          </a:p>
        </p:txBody>
      </p:sp>
      <p:sp>
        <p:nvSpPr>
          <p:cNvPr id="6" name="Shape 3"/>
          <p:cNvSpPr/>
          <p:nvPr/>
        </p:nvSpPr>
        <p:spPr>
          <a:xfrm>
            <a:off x="1828800" y="2697480"/>
            <a:ext cx="256032" cy="256032"/>
          </a:xfrm>
          <a:prstGeom prst="ellipse">
            <a:avLst/>
          </a:prstGeom>
          <a:solidFill>
            <a:srgbClr val="84B497"/>
          </a:solidFill>
          <a:ln/>
        </p:spPr>
      </p:sp>
      <p:sp>
        <p:nvSpPr>
          <p:cNvPr id="7" name="Text 4"/>
          <p:cNvSpPr txBox="1"/>
          <p:nvPr/>
        </p:nvSpPr>
        <p:spPr>
          <a:xfrm>
            <a:off x="2286000" y="2578608"/>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Automatiser les rappels et ajouter les notifications push</a:t>
            </a:r>
            <a:endParaRPr lang="en-US" sz="1600" dirty="0"/>
          </a:p>
        </p:txBody>
      </p:sp>
      <p:sp>
        <p:nvSpPr>
          <p:cNvPr id="8" name="Shape 5"/>
          <p:cNvSpPr/>
          <p:nvPr/>
        </p:nvSpPr>
        <p:spPr>
          <a:xfrm>
            <a:off x="1828800" y="3538728"/>
            <a:ext cx="256032" cy="256032"/>
          </a:xfrm>
          <a:prstGeom prst="ellipse">
            <a:avLst/>
          </a:prstGeom>
          <a:solidFill>
            <a:srgbClr val="84B497"/>
          </a:solidFill>
          <a:ln/>
        </p:spPr>
      </p:sp>
      <p:sp>
        <p:nvSpPr>
          <p:cNvPr id="9" name="Text 6"/>
          <p:cNvSpPr txBox="1"/>
          <p:nvPr/>
        </p:nvSpPr>
        <p:spPr>
          <a:xfrm>
            <a:off x="2286000" y="3419856"/>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Mettre en place des tests fonctionnels</a:t>
            </a:r>
            <a:endParaRPr lang="en-US" sz="1600" dirty="0"/>
          </a:p>
        </p:txBody>
      </p:sp>
      <p:sp>
        <p:nvSpPr>
          <p:cNvPr id="10" name="Shape 7"/>
          <p:cNvSpPr/>
          <p:nvPr/>
        </p:nvSpPr>
        <p:spPr>
          <a:xfrm>
            <a:off x="1828800" y="4379976"/>
            <a:ext cx="256032" cy="256032"/>
          </a:xfrm>
          <a:prstGeom prst="ellipse">
            <a:avLst/>
          </a:prstGeom>
          <a:solidFill>
            <a:srgbClr val="84B497"/>
          </a:solidFill>
          <a:ln/>
        </p:spPr>
      </p:sp>
      <p:sp>
        <p:nvSpPr>
          <p:cNvPr id="11" name="Text 8"/>
          <p:cNvSpPr txBox="1"/>
          <p:nvPr/>
        </p:nvSpPr>
        <p:spPr>
          <a:xfrm>
            <a:off x="2286000" y="4261104"/>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Renforcer la conformité RGPD (suppression, export des données)</a:t>
            </a:r>
            <a:endParaRPr lang="en-US" sz="1600" dirty="0"/>
          </a:p>
        </p:txBody>
      </p:sp>
      <p:sp>
        <p:nvSpPr>
          <p:cNvPr id="12" name="Shape 9"/>
          <p:cNvSpPr/>
          <p:nvPr/>
        </p:nvSpPr>
        <p:spPr>
          <a:xfrm>
            <a:off x="1828800" y="5221224"/>
            <a:ext cx="256032" cy="256032"/>
          </a:xfrm>
          <a:prstGeom prst="ellipse">
            <a:avLst/>
          </a:prstGeom>
          <a:solidFill>
            <a:srgbClr val="84B497"/>
          </a:solidFill>
          <a:ln/>
        </p:spPr>
      </p:sp>
      <p:sp>
        <p:nvSpPr>
          <p:cNvPr id="13" name="Text 10"/>
          <p:cNvSpPr txBox="1"/>
          <p:nvPr/>
        </p:nvSpPr>
        <p:spPr>
          <a:xfrm>
            <a:off x="2286000" y="5102352"/>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Conteneuriser et déployer en production (Docker, CI/CD)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CONCLUSION</a:t>
            </a:r>
            <a:endParaRPr lang="en-US" sz="1300" dirty="0"/>
          </a:p>
        </p:txBody>
      </p:sp>
      <p:sp>
        <p:nvSpPr>
          <p:cNvPr id="4" name="Text 1"/>
          <p:cNvSpPr txBox="1"/>
          <p:nvPr/>
        </p:nvSpPr>
        <p:spPr>
          <a:xfrm>
            <a:off x="1463040" y="1828800"/>
            <a:ext cx="9235440" cy="1554480"/>
          </a:xfrm>
          <a:prstGeom prst="rect">
            <a:avLst/>
          </a:prstGeom>
          <a:noFill/>
          <a:ln/>
        </p:spPr>
        <p:txBody>
          <a:bodyPr wrap="square" rtlCol="0" anchor="ctr"/>
          <a:lstStyle/>
          <a:p>
            <a:pPr algn="ctr" indent="0" marL="0">
              <a:buNone/>
            </a:pPr>
            <a:r>
              <a:rPr lang="en-US" sz="2300" i="1" dirty="0">
                <a:solidFill>
                  <a:srgbClr val="FFFFFF"/>
                </a:solidFill>
                <a:latin typeface="Calibri" pitchFamily="34" charset="0"/>
                <a:ea typeface="Calibri" pitchFamily="34" charset="-122"/>
                <a:cs typeface="Calibri" pitchFamily="34" charset="-120"/>
              </a:rPr>
              <a:t>« Parcours Santé est né d’une expérience personnelle : celle d’un patient confronté à la charge d’organisation qu’impose un parcours de soin. »</a:t>
            </a:r>
            <a:endParaRPr lang="en-US" sz="2300" dirty="0"/>
          </a:p>
        </p:txBody>
      </p:sp>
      <p:sp>
        <p:nvSpPr>
          <p:cNvPr id="5" name="Text 2"/>
          <p:cNvSpPr txBox="1"/>
          <p:nvPr/>
        </p:nvSpPr>
        <p:spPr>
          <a:xfrm>
            <a:off x="1828800" y="3749040"/>
            <a:ext cx="8503920" cy="1280160"/>
          </a:xfrm>
          <a:prstGeom prst="rect">
            <a:avLst/>
          </a:prstGeom>
          <a:noFill/>
          <a:ln/>
        </p:spPr>
        <p:txBody>
          <a:bodyPr wrap="square" rtlCol="0" anchor="ctr"/>
          <a:lstStyle/>
          <a:p>
            <a:pPr algn="ctr" indent="0" marL="0">
              <a:buNone/>
            </a:pPr>
            <a:r>
              <a:rPr lang="en-US" sz="1600" dirty="0">
                <a:solidFill>
                  <a:srgbClr val="C2C9D4"/>
                </a:solidFill>
                <a:latin typeface="Calibri" pitchFamily="34" charset="0"/>
                <a:ea typeface="Calibri" pitchFamily="34" charset="-122"/>
                <a:cs typeface="Calibri" pitchFamily="34" charset="-120"/>
              </a:rPr>
              <a:t>Ce qui a commencé comme un projet de fin d’année pourrait devenir un outil au service de personnes qui traversent la même épreuve.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2743200"/>
            <a:ext cx="1219169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Merci de votre attention</a:t>
            </a:r>
            <a:endParaRPr lang="en-US" sz="4400" dirty="0"/>
          </a:p>
        </p:txBody>
      </p:sp>
      <p:sp>
        <p:nvSpPr>
          <p:cNvPr id="4" name="Text 1"/>
          <p:cNvSpPr txBox="1"/>
          <p:nvPr/>
        </p:nvSpPr>
        <p:spPr>
          <a:xfrm>
            <a:off x="0" y="3749040"/>
            <a:ext cx="12191695" cy="457200"/>
          </a:xfrm>
          <a:prstGeom prst="rect">
            <a:avLst/>
          </a:prstGeom>
          <a:noFill/>
          <a:ln/>
        </p:spPr>
        <p:txBody>
          <a:bodyPr wrap="square" rtlCol="0" anchor="ctr"/>
          <a:lstStyle/>
          <a:p>
            <a:pPr algn="ctr" indent="0" marL="0">
              <a:buNone/>
            </a:pPr>
            <a:r>
              <a:rPr lang="en-US" sz="1800" i="1" dirty="0">
                <a:solidFill>
                  <a:srgbClr val="B4A7D6"/>
                </a:solidFill>
                <a:latin typeface="Calibri" pitchFamily="34" charset="0"/>
                <a:ea typeface="Calibri" pitchFamily="34" charset="-122"/>
                <a:cs typeface="Calibri" pitchFamily="34" charset="-120"/>
              </a:rPr>
              <a:t>Je suis à votre disposition pour vos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2026-09-08T23:13:44Z</dcterms:created>
  <dcterms:modified xsi:type="dcterms:W3CDTF">2026-09-08T23:13:44Z</dcterms:modified>
</cp:coreProperties>
</file>