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code de la commande de rappels. Trois étapes : je récupère toutes les prises non effectuées avec le repository, je construis un email pour chacune, et je l'envoie via le Mailer de Symfony. C'est une commande console, pas une page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code du journal. Je récupère les entrées du patient connecté, je prépare les données — les dates deviennent les labels, les intensités les valeurs — puis je construis le graphique avec Symfony UX Chart.js et je l'envoie à la vue. C'est le serveur qui prépare, Chart.js qui dessine côté navigateur.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comment je garantis que chaque patient n'accède qu'à ses propres données. Avant toute modification, je vérifie que le médicament appartient bien à l'utilisateur connecté. Sinon, j'interdis l'accès. C'est une ligne simple mais essentielle pour des données de santé.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logique métier que mes tests unitaires vérifient : la méthode isActif d'un médicament. Elle compare les dates du traitement à aujourd'hui. Si la date de début est dans le futur, il n'a pas commencé ; si la date de fin est passée, il est terminé ; sinon, il est en cours. Mes tests vérifient ces trois 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22B"/>
        </a:solidFill>
      </p:bgPr>
    </p:bg>
    <p:spTree>
      <p:nvGrpSpPr>
        <p:cNvPr id="1" name=""/>
        <p:cNvGrpSpPr/>
        <p:nvPr/>
      </p:nvGrpSpPr>
      <p:grpSpPr>
        <a:xfrm>
          <a:off x="0" y="0"/>
          <a:ext cx="0" cy="0"/>
          <a:chOff x="0" y="0"/>
          <a:chExt cx="0" cy="0"/>
        </a:xfrm>
      </p:grpSpPr>
      <p:sp>
        <p:nvSpPr>
          <p:cNvPr id="3" name="Text 0"/>
          <p:cNvSpPr txBox="1"/>
          <p:nvPr/>
        </p:nvSpPr>
        <p:spPr>
          <a:xfrm>
            <a:off x="0" y="45720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FONCTIONNALITÉ 1 — LES RAPPELS · LE CODE</a:t>
            </a:r>
            <a:endParaRPr lang="en-US" sz="1300" dirty="0"/>
          </a:p>
        </p:txBody>
      </p:sp>
      <p:pic>
        <p:nvPicPr>
          <p:cNvPr id="4" name="Image 0" descr="/home/claude/parcours-sante-livrables/code_rappels.png">    </p:cNvPr>
          <p:cNvPicPr>
            <a:picLocks noChangeAspect="1"/>
          </p:cNvPicPr>
          <p:nvPr/>
        </p:nvPicPr>
        <p:blipFill>
          <a:blip r:embed="rId1"/>
          <a:stretch>
            <a:fillRect/>
          </a:stretch>
        </p:blipFill>
        <p:spPr>
          <a:xfrm>
            <a:off x="3166695" y="1188720"/>
            <a:ext cx="5828130" cy="4572000"/>
          </a:xfrm>
          <a:prstGeom prst="rect">
            <a:avLst/>
          </a:prstGeom>
          <a:effectLst>
            <a:outerShdw sx="100000" sy="100000" kx="0" ky="0" algn="bl" rotWithShape="0" blurRad="152400" dist="50800" dir="5400000">
              <a:srgbClr val="000000">
                <a:alpha val="45000"/>
              </a:srgbClr>
            </a:outerShdw>
          </a:effectLst>
        </p:spPr>
      </p:pic>
      <p:sp>
        <p:nvSpPr>
          <p:cNvPr id="5" name="Text 1"/>
          <p:cNvSpPr txBox="1"/>
          <p:nvPr/>
        </p:nvSpPr>
        <p:spPr>
          <a:xfrm>
            <a:off x="822960" y="5989320"/>
            <a:ext cx="10545775" cy="365760"/>
          </a:xfrm>
          <a:prstGeom prst="rect">
            <a:avLst/>
          </a:prstGeom>
          <a:noFill/>
          <a:ln/>
        </p:spPr>
        <p:txBody>
          <a:bodyPr wrap="square" rtlCol="0" anchor="ctr"/>
          <a:lstStyle/>
          <a:p>
            <a:pPr algn="ctr" indent="0" marL="0">
              <a:buNone/>
            </a:pPr>
            <a:r>
              <a:rPr lang="en-US" sz="1300" i="1" dirty="0">
                <a:solidFill>
                  <a:srgbClr val="828C9E"/>
                </a:solidFill>
                <a:latin typeface="Calibri" pitchFamily="34" charset="0"/>
                <a:ea typeface="Calibri" pitchFamily="34" charset="-122"/>
                <a:cs typeface="Calibri" pitchFamily="34" charset="-120"/>
              </a:rPr>
              <a:t>Une commande console : elle lit les prises non effectuées, construit un email et l’envoie via le Mailer.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22B"/>
        </a:solidFill>
      </p:bgPr>
    </p:bg>
    <p:spTree>
      <p:nvGrpSpPr>
        <p:cNvPr id="1" name=""/>
        <p:cNvGrpSpPr/>
        <p:nvPr/>
      </p:nvGrpSpPr>
      <p:grpSpPr>
        <a:xfrm>
          <a:off x="0" y="0"/>
          <a:ext cx="0" cy="0"/>
          <a:chOff x="0" y="0"/>
          <a:chExt cx="0" cy="0"/>
        </a:xfrm>
      </p:grpSpPr>
      <p:sp>
        <p:nvSpPr>
          <p:cNvPr id="3" name="Text 0"/>
          <p:cNvSpPr txBox="1"/>
          <p:nvPr/>
        </p:nvSpPr>
        <p:spPr>
          <a:xfrm>
            <a:off x="0" y="45720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FONCTIONNALITÉ 2 — LE JOURNAL &amp; LE GRAPHIQUE · LE CODE</a:t>
            </a:r>
            <a:endParaRPr lang="en-US" sz="1300" dirty="0"/>
          </a:p>
        </p:txBody>
      </p:sp>
      <p:pic>
        <p:nvPicPr>
          <p:cNvPr id="4" name="Image 0" descr="/home/claude/parcours-sante-livrables/code_journal.png">    </p:cNvPr>
          <p:cNvPicPr>
            <a:picLocks noChangeAspect="1"/>
          </p:cNvPicPr>
          <p:nvPr/>
        </p:nvPicPr>
        <p:blipFill>
          <a:blip r:embed="rId1"/>
          <a:stretch>
            <a:fillRect/>
          </a:stretch>
        </p:blipFill>
        <p:spPr>
          <a:xfrm>
            <a:off x="2466306" y="1188720"/>
            <a:ext cx="7228907" cy="4572000"/>
          </a:xfrm>
          <a:prstGeom prst="rect">
            <a:avLst/>
          </a:prstGeom>
          <a:effectLst>
            <a:outerShdw sx="100000" sy="100000" kx="0" ky="0" algn="bl" rotWithShape="0" blurRad="152400" dist="50800" dir="5400000">
              <a:srgbClr val="000000">
                <a:alpha val="45000"/>
              </a:srgbClr>
            </a:outerShdw>
          </a:effectLst>
        </p:spPr>
      </p:pic>
      <p:sp>
        <p:nvSpPr>
          <p:cNvPr id="5" name="Text 1"/>
          <p:cNvSpPr txBox="1"/>
          <p:nvPr/>
        </p:nvSpPr>
        <p:spPr>
          <a:xfrm>
            <a:off x="822960" y="5989320"/>
            <a:ext cx="10545775" cy="365760"/>
          </a:xfrm>
          <a:prstGeom prst="rect">
            <a:avLst/>
          </a:prstGeom>
          <a:noFill/>
          <a:ln/>
        </p:spPr>
        <p:txBody>
          <a:bodyPr wrap="square" rtlCol="0" anchor="ctr"/>
          <a:lstStyle/>
          <a:p>
            <a:pPr algn="ctr" indent="0" marL="0">
              <a:buNone/>
            </a:pPr>
            <a:r>
              <a:rPr lang="en-US" sz="1300" i="1" dirty="0">
                <a:solidFill>
                  <a:srgbClr val="828C9E"/>
                </a:solidFill>
                <a:latin typeface="Calibri" pitchFamily="34" charset="0"/>
                <a:ea typeface="Calibri" pitchFamily="34" charset="-122"/>
                <a:cs typeface="Calibri" pitchFamily="34" charset="-120"/>
              </a:rPr>
              <a:t>Le contrôleur prépare les données (dates, intensités) et construit le graphique avec Symfony UX Chart.js.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22B"/>
        </a:solidFill>
      </p:bgPr>
    </p:bg>
    <p:spTree>
      <p:nvGrpSpPr>
        <p:cNvPr id="1" name=""/>
        <p:cNvGrpSpPr/>
        <p:nvPr/>
      </p:nvGrpSpPr>
      <p:grpSpPr>
        <a:xfrm>
          <a:off x="0" y="0"/>
          <a:ext cx="0" cy="0"/>
          <a:chOff x="0" y="0"/>
          <a:chExt cx="0" cy="0"/>
        </a:xfrm>
      </p:grpSpPr>
      <p:sp>
        <p:nvSpPr>
          <p:cNvPr id="3" name="Text 0"/>
          <p:cNvSpPr txBox="1"/>
          <p:nvPr/>
        </p:nvSpPr>
        <p:spPr>
          <a:xfrm>
            <a:off x="0" y="45720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SÉCURITÉ — CONTRÔLE D’ACCÈS · LE CODE</a:t>
            </a:r>
            <a:endParaRPr lang="en-US" sz="1300" dirty="0"/>
          </a:p>
        </p:txBody>
      </p:sp>
      <p:pic>
        <p:nvPicPr>
          <p:cNvPr id="4" name="Image 0" descr="/home/claude/parcours-sante-livrables/code_securite.png">    </p:cNvPr>
          <p:cNvPicPr>
            <a:picLocks noChangeAspect="1"/>
          </p:cNvPicPr>
          <p:nvPr/>
        </p:nvPicPr>
        <p:blipFill>
          <a:blip r:embed="rId1"/>
          <a:stretch>
            <a:fillRect/>
          </a:stretch>
        </p:blipFill>
        <p:spPr>
          <a:xfrm>
            <a:off x="1005840" y="1304507"/>
            <a:ext cx="10149840" cy="4340426"/>
          </a:xfrm>
          <a:prstGeom prst="rect">
            <a:avLst/>
          </a:prstGeom>
          <a:effectLst>
            <a:outerShdw sx="100000" sy="100000" kx="0" ky="0" algn="bl" rotWithShape="0" blurRad="152400" dist="50800" dir="5400000">
              <a:srgbClr val="000000">
                <a:alpha val="45000"/>
              </a:srgbClr>
            </a:outerShdw>
          </a:effectLst>
        </p:spPr>
      </p:pic>
      <p:sp>
        <p:nvSpPr>
          <p:cNvPr id="5" name="Text 1"/>
          <p:cNvSpPr txBox="1"/>
          <p:nvPr/>
        </p:nvSpPr>
        <p:spPr>
          <a:xfrm>
            <a:off x="822960" y="5989320"/>
            <a:ext cx="10545775" cy="365760"/>
          </a:xfrm>
          <a:prstGeom prst="rect">
            <a:avLst/>
          </a:prstGeom>
          <a:noFill/>
          <a:ln/>
        </p:spPr>
        <p:txBody>
          <a:bodyPr wrap="square" rtlCol="0" anchor="ctr"/>
          <a:lstStyle/>
          <a:p>
            <a:pPr algn="ctr" indent="0" marL="0">
              <a:buNone/>
            </a:pPr>
            <a:r>
              <a:rPr lang="en-US" sz="1300" i="1" dirty="0">
                <a:solidFill>
                  <a:srgbClr val="828C9E"/>
                </a:solidFill>
                <a:latin typeface="Calibri" pitchFamily="34" charset="0"/>
                <a:ea typeface="Calibri" pitchFamily="34" charset="-122"/>
                <a:cs typeface="Calibri" pitchFamily="34" charset="-120"/>
              </a:rPr>
              <a:t>Avant toute modification, on vérifie que la donnée appartient bien au patient connecté.</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22B"/>
        </a:solidFill>
      </p:bgPr>
    </p:bg>
    <p:spTree>
      <p:nvGrpSpPr>
        <p:cNvPr id="1" name=""/>
        <p:cNvGrpSpPr/>
        <p:nvPr/>
      </p:nvGrpSpPr>
      <p:grpSpPr>
        <a:xfrm>
          <a:off x="0" y="0"/>
          <a:ext cx="0" cy="0"/>
          <a:chOff x="0" y="0"/>
          <a:chExt cx="0" cy="0"/>
        </a:xfrm>
      </p:grpSpPr>
      <p:sp>
        <p:nvSpPr>
          <p:cNvPr id="3" name="Text 0"/>
          <p:cNvSpPr txBox="1"/>
          <p:nvPr/>
        </p:nvSpPr>
        <p:spPr>
          <a:xfrm>
            <a:off x="0" y="45720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TESTS — LA LOGIQUE MÉTIER ISACTIF() · LE CODE</a:t>
            </a:r>
            <a:endParaRPr lang="en-US" sz="1300" dirty="0"/>
          </a:p>
        </p:txBody>
      </p:sp>
      <p:pic>
        <p:nvPicPr>
          <p:cNvPr id="4" name="Image 0" descr="/home/claude/parcours-sante-livrables/code_isactif.png">    </p:cNvPr>
          <p:cNvPicPr>
            <a:picLocks noChangeAspect="1"/>
          </p:cNvPicPr>
          <p:nvPr/>
        </p:nvPicPr>
        <p:blipFill>
          <a:blip r:embed="rId1"/>
          <a:stretch>
            <a:fillRect/>
          </a:stretch>
        </p:blipFill>
        <p:spPr>
          <a:xfrm>
            <a:off x="1005840" y="1303190"/>
            <a:ext cx="10149840" cy="4343059"/>
          </a:xfrm>
          <a:prstGeom prst="rect">
            <a:avLst/>
          </a:prstGeom>
          <a:effectLst>
            <a:outerShdw sx="100000" sy="100000" kx="0" ky="0" algn="bl" rotWithShape="0" blurRad="152400" dist="50800" dir="5400000">
              <a:srgbClr val="000000">
                <a:alpha val="45000"/>
              </a:srgbClr>
            </a:outerShdw>
          </a:effectLst>
        </p:spPr>
      </p:pic>
      <p:sp>
        <p:nvSpPr>
          <p:cNvPr id="5" name="Text 1"/>
          <p:cNvSpPr txBox="1"/>
          <p:nvPr/>
        </p:nvSpPr>
        <p:spPr>
          <a:xfrm>
            <a:off x="822960" y="5989320"/>
            <a:ext cx="10545775" cy="365760"/>
          </a:xfrm>
          <a:prstGeom prst="rect">
            <a:avLst/>
          </a:prstGeom>
          <a:noFill/>
          <a:ln/>
        </p:spPr>
        <p:txBody>
          <a:bodyPr wrap="square" rtlCol="0" anchor="ctr"/>
          <a:lstStyle/>
          <a:p>
            <a:pPr algn="ctr" indent="0" marL="0">
              <a:buNone/>
            </a:pPr>
            <a:r>
              <a:rPr lang="en-US" sz="1300" i="1" dirty="0">
                <a:solidFill>
                  <a:srgbClr val="828C9E"/>
                </a:solidFill>
                <a:latin typeface="Calibri" pitchFamily="34" charset="0"/>
                <a:ea typeface="Calibri" pitchFamily="34" charset="-122"/>
                <a:cs typeface="Calibri" pitchFamily="34" charset="-120"/>
              </a:rPr>
              <a:t>La méthode métier couverte par mes tests unitaires : traitement expiré, à venir, ou en cours.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2026-09-15T13:27:54Z</dcterms:created>
  <dcterms:modified xsi:type="dcterms:W3CDTF">2026-09-15T13:27:54Z</dcterms:modified>
</cp:coreProperties>
</file>